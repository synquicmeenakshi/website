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4" r:id="rId4"/>
    <p:sldId id="265" r:id="rId5"/>
    <p:sldId id="266" r:id="rId6"/>
    <p:sldId id="267" r:id="rId7"/>
    <p:sldId id="268" r:id="rId8"/>
    <p:sldId id="269" r:id="rId9"/>
    <p:sldId id="270" r:id="rId10"/>
    <p:sldId id="271" r:id="rId11"/>
    <p:sldId id="279" r:id="rId12"/>
    <p:sldId id="262" r:id="rId13"/>
    <p:sldId id="258" r:id="rId14"/>
    <p:sldId id="261" r:id="rId15"/>
    <p:sldId id="260" r:id="rId16"/>
    <p:sldId id="272" r:id="rId17"/>
    <p:sldId id="274" r:id="rId18"/>
    <p:sldId id="282" r:id="rId19"/>
    <p:sldId id="275" r:id="rId20"/>
    <p:sldId id="276" r:id="rId21"/>
    <p:sldId id="277" r:id="rId22"/>
    <p:sldId id="278" r:id="rId23"/>
    <p:sldId id="273" r:id="rId24"/>
    <p:sldId id="281"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990546-6143-465E-9E2B-0988F9CE6F44}" v="24" dt="2026-07-10T13:40:48.0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83" d="100"/>
          <a:sy n="83" d="100"/>
        </p:scale>
        <p:origin x="390" y="54"/>
      </p:cViewPr>
      <p:guideLst/>
    </p:cSldViewPr>
  </p:slideViewPr>
  <p:notesTextViewPr>
    <p:cViewPr>
      <p:scale>
        <a:sx n="1" d="1"/>
        <a:sy n="1" d="1"/>
      </p:scale>
      <p:origin x="0" y="0"/>
    </p:cViewPr>
  </p:notesTextViewPr>
  <p:sorterViewPr>
    <p:cViewPr>
      <p:scale>
        <a:sx n="100" d="100"/>
        <a:sy n="100" d="100"/>
      </p:scale>
      <p:origin x="0" y="-3237"/>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enakshi Saxena" userId="42f5ea5ddd825210" providerId="LiveId" clId="{562E80D9-247E-4B47-BAAC-A5709D155035}"/>
    <pc:docChg chg="custSel addSld delSld modSld sldOrd">
      <pc:chgData name="Meenakshi Saxena" userId="42f5ea5ddd825210" providerId="LiveId" clId="{562E80D9-247E-4B47-BAAC-A5709D155035}" dt="2026-07-10T13:50:14.670" v="1388" actId="1076"/>
      <pc:docMkLst>
        <pc:docMk/>
      </pc:docMkLst>
      <pc:sldChg chg="modSp mod">
        <pc:chgData name="Meenakshi Saxena" userId="42f5ea5ddd825210" providerId="LiveId" clId="{562E80D9-247E-4B47-BAAC-A5709D155035}" dt="2026-07-04T17:08:10.020" v="0" actId="207"/>
        <pc:sldMkLst>
          <pc:docMk/>
          <pc:sldMk cId="581941492" sldId="256"/>
        </pc:sldMkLst>
        <pc:spChg chg="mod">
          <ac:chgData name="Meenakshi Saxena" userId="42f5ea5ddd825210" providerId="LiveId" clId="{562E80D9-247E-4B47-BAAC-A5709D155035}" dt="2026-07-04T17:08:10.020" v="0" actId="207"/>
          <ac:spMkLst>
            <pc:docMk/>
            <pc:sldMk cId="581941492" sldId="256"/>
            <ac:spMk id="5" creationId="{8E117756-71D2-7FAF-A205-2B78A1782A98}"/>
          </ac:spMkLst>
        </pc:spChg>
        <pc:spChg chg="mod">
          <ac:chgData name="Meenakshi Saxena" userId="42f5ea5ddd825210" providerId="LiveId" clId="{562E80D9-247E-4B47-BAAC-A5709D155035}" dt="2026-07-04T17:08:10.020" v="0" actId="207"/>
          <ac:spMkLst>
            <pc:docMk/>
            <pc:sldMk cId="581941492" sldId="256"/>
            <ac:spMk id="7" creationId="{B2811D0B-BA53-D449-4B44-37553ED309E7}"/>
          </ac:spMkLst>
        </pc:spChg>
      </pc:sldChg>
      <pc:sldChg chg="ord">
        <pc:chgData name="Meenakshi Saxena" userId="42f5ea5ddd825210" providerId="LiveId" clId="{562E80D9-247E-4B47-BAAC-A5709D155035}" dt="2026-07-04T17:12:23.330" v="5"/>
        <pc:sldMkLst>
          <pc:docMk/>
          <pc:sldMk cId="3052976790" sldId="260"/>
        </pc:sldMkLst>
      </pc:sldChg>
      <pc:sldChg chg="ord">
        <pc:chgData name="Meenakshi Saxena" userId="42f5ea5ddd825210" providerId="LiveId" clId="{562E80D9-247E-4B47-BAAC-A5709D155035}" dt="2026-07-04T17:12:26.486" v="7"/>
        <pc:sldMkLst>
          <pc:docMk/>
          <pc:sldMk cId="4288039052" sldId="262"/>
        </pc:sldMkLst>
      </pc:sldChg>
      <pc:sldChg chg="ord">
        <pc:chgData name="Meenakshi Saxena" userId="42f5ea5ddd825210" providerId="LiveId" clId="{562E80D9-247E-4B47-BAAC-A5709D155035}" dt="2026-07-04T17:11:46.130" v="3"/>
        <pc:sldMkLst>
          <pc:docMk/>
          <pc:sldMk cId="3550756164" sldId="265"/>
        </pc:sldMkLst>
      </pc:sldChg>
      <pc:sldChg chg="modSp mod ord">
        <pc:chgData name="Meenakshi Saxena" userId="42f5ea5ddd825210" providerId="LiveId" clId="{562E80D9-247E-4B47-BAAC-A5709D155035}" dt="2026-07-05T16:22:15.899" v="488" actId="21"/>
        <pc:sldMkLst>
          <pc:docMk/>
          <pc:sldMk cId="3644672229" sldId="266"/>
        </pc:sldMkLst>
        <pc:spChg chg="mod">
          <ac:chgData name="Meenakshi Saxena" userId="42f5ea5ddd825210" providerId="LiveId" clId="{562E80D9-247E-4B47-BAAC-A5709D155035}" dt="2026-07-05T16:22:15.899" v="488" actId="21"/>
          <ac:spMkLst>
            <pc:docMk/>
            <pc:sldMk cId="3644672229" sldId="266"/>
            <ac:spMk id="3" creationId="{0A894EA6-6759-D6A8-93AF-DB8DCA133492}"/>
          </ac:spMkLst>
        </pc:spChg>
      </pc:sldChg>
      <pc:sldChg chg="ord">
        <pc:chgData name="Meenakshi Saxena" userId="42f5ea5ddd825210" providerId="LiveId" clId="{562E80D9-247E-4B47-BAAC-A5709D155035}" dt="2026-07-04T17:11:46.130" v="3"/>
        <pc:sldMkLst>
          <pc:docMk/>
          <pc:sldMk cId="1547596292" sldId="267"/>
        </pc:sldMkLst>
      </pc:sldChg>
      <pc:sldChg chg="ord">
        <pc:chgData name="Meenakshi Saxena" userId="42f5ea5ddd825210" providerId="LiveId" clId="{562E80D9-247E-4B47-BAAC-A5709D155035}" dt="2026-07-04T17:11:46.130" v="3"/>
        <pc:sldMkLst>
          <pc:docMk/>
          <pc:sldMk cId="719731264" sldId="268"/>
        </pc:sldMkLst>
      </pc:sldChg>
      <pc:sldChg chg="ord">
        <pc:chgData name="Meenakshi Saxena" userId="42f5ea5ddd825210" providerId="LiveId" clId="{562E80D9-247E-4B47-BAAC-A5709D155035}" dt="2026-07-04T17:11:46.130" v="3"/>
        <pc:sldMkLst>
          <pc:docMk/>
          <pc:sldMk cId="4058243268" sldId="269"/>
        </pc:sldMkLst>
      </pc:sldChg>
      <pc:sldChg chg="ord">
        <pc:chgData name="Meenakshi Saxena" userId="42f5ea5ddd825210" providerId="LiveId" clId="{562E80D9-247E-4B47-BAAC-A5709D155035}" dt="2026-07-04T17:11:46.130" v="3"/>
        <pc:sldMkLst>
          <pc:docMk/>
          <pc:sldMk cId="1463096849" sldId="270"/>
        </pc:sldMkLst>
      </pc:sldChg>
      <pc:sldChg chg="ord">
        <pc:chgData name="Meenakshi Saxena" userId="42f5ea5ddd825210" providerId="LiveId" clId="{562E80D9-247E-4B47-BAAC-A5709D155035}" dt="2026-07-04T17:11:46.130" v="3"/>
        <pc:sldMkLst>
          <pc:docMk/>
          <pc:sldMk cId="3696690170" sldId="271"/>
        </pc:sldMkLst>
      </pc:sldChg>
      <pc:sldChg chg="addSp modSp add mod">
        <pc:chgData name="Meenakshi Saxena" userId="42f5ea5ddd825210" providerId="LiveId" clId="{562E80D9-247E-4B47-BAAC-A5709D155035}" dt="2026-07-05T02:05:32.668" v="140" actId="22"/>
        <pc:sldMkLst>
          <pc:docMk/>
          <pc:sldMk cId="4193769442" sldId="272"/>
        </pc:sldMkLst>
        <pc:spChg chg="add">
          <ac:chgData name="Meenakshi Saxena" userId="42f5ea5ddd825210" providerId="LiveId" clId="{562E80D9-247E-4B47-BAAC-A5709D155035}" dt="2026-07-05T02:05:32.668" v="140" actId="22"/>
          <ac:spMkLst>
            <pc:docMk/>
            <pc:sldMk cId="4193769442" sldId="272"/>
            <ac:spMk id="3" creationId="{1A31F315-8069-9212-8EC4-832E04E156A3}"/>
          </ac:spMkLst>
        </pc:spChg>
        <pc:spChg chg="mod">
          <ac:chgData name="Meenakshi Saxena" userId="42f5ea5ddd825210" providerId="LiveId" clId="{562E80D9-247E-4B47-BAAC-A5709D155035}" dt="2026-07-05T02:05:07.800" v="139" actId="403"/>
          <ac:spMkLst>
            <pc:docMk/>
            <pc:sldMk cId="4193769442" sldId="272"/>
            <ac:spMk id="4" creationId="{6374B98F-B4BF-59C9-4331-542732EBFB1E}"/>
          </ac:spMkLst>
        </pc:spChg>
        <pc:spChg chg="add">
          <ac:chgData name="Meenakshi Saxena" userId="42f5ea5ddd825210" providerId="LiveId" clId="{562E80D9-247E-4B47-BAAC-A5709D155035}" dt="2026-07-05T02:05:32.668" v="140" actId="22"/>
          <ac:spMkLst>
            <pc:docMk/>
            <pc:sldMk cId="4193769442" sldId="272"/>
            <ac:spMk id="6" creationId="{5AD3E728-920F-0093-8EE0-276F583114F7}"/>
          </ac:spMkLst>
        </pc:spChg>
        <pc:spChg chg="mod">
          <ac:chgData name="Meenakshi Saxena" userId="42f5ea5ddd825210" providerId="LiveId" clId="{562E80D9-247E-4B47-BAAC-A5709D155035}" dt="2026-07-05T02:03:54.777" v="102" actId="20577"/>
          <ac:spMkLst>
            <pc:docMk/>
            <pc:sldMk cId="4193769442" sldId="272"/>
            <ac:spMk id="8" creationId="{72D8B1FA-B026-79B6-E04E-E6AB58324B62}"/>
          </ac:spMkLst>
        </pc:spChg>
      </pc:sldChg>
      <pc:sldChg chg="add">
        <pc:chgData name="Meenakshi Saxena" userId="42f5ea5ddd825210" providerId="LiveId" clId="{562E80D9-247E-4B47-BAAC-A5709D155035}" dt="2026-07-05T02:02:47.716" v="68"/>
        <pc:sldMkLst>
          <pc:docMk/>
          <pc:sldMk cId="565914405" sldId="273"/>
        </pc:sldMkLst>
      </pc:sldChg>
      <pc:sldChg chg="modSp add mod">
        <pc:chgData name="Meenakshi Saxena" userId="42f5ea5ddd825210" providerId="LiveId" clId="{562E80D9-247E-4B47-BAAC-A5709D155035}" dt="2026-07-05T02:24:31.990" v="432" actId="403"/>
        <pc:sldMkLst>
          <pc:docMk/>
          <pc:sldMk cId="3733430966" sldId="274"/>
        </pc:sldMkLst>
        <pc:spChg chg="mod">
          <ac:chgData name="Meenakshi Saxena" userId="42f5ea5ddd825210" providerId="LiveId" clId="{562E80D9-247E-4B47-BAAC-A5709D155035}" dt="2026-07-05T02:24:31.990" v="432" actId="403"/>
          <ac:spMkLst>
            <pc:docMk/>
            <pc:sldMk cId="3733430966" sldId="274"/>
            <ac:spMk id="4" creationId="{BE1CC785-6FF0-18A4-721E-F8AF8E407C3D}"/>
          </ac:spMkLst>
        </pc:spChg>
        <pc:spChg chg="mod">
          <ac:chgData name="Meenakshi Saxena" userId="42f5ea5ddd825210" providerId="LiveId" clId="{562E80D9-247E-4B47-BAAC-A5709D155035}" dt="2026-07-05T02:07:12.364" v="162" actId="20577"/>
          <ac:spMkLst>
            <pc:docMk/>
            <pc:sldMk cId="3733430966" sldId="274"/>
            <ac:spMk id="8" creationId="{D51D9B0E-3CE7-2738-FBE6-E0F523ACBF6E}"/>
          </ac:spMkLst>
        </pc:spChg>
      </pc:sldChg>
      <pc:sldChg chg="modSp add mod">
        <pc:chgData name="Meenakshi Saxena" userId="42f5ea5ddd825210" providerId="LiveId" clId="{562E80D9-247E-4B47-BAAC-A5709D155035}" dt="2026-07-05T02:18:34.247" v="323" actId="255"/>
        <pc:sldMkLst>
          <pc:docMk/>
          <pc:sldMk cId="3594443583" sldId="275"/>
        </pc:sldMkLst>
        <pc:spChg chg="mod">
          <ac:chgData name="Meenakshi Saxena" userId="42f5ea5ddd825210" providerId="LiveId" clId="{562E80D9-247E-4B47-BAAC-A5709D155035}" dt="2026-07-05T02:18:34.247" v="323" actId="255"/>
          <ac:spMkLst>
            <pc:docMk/>
            <pc:sldMk cId="3594443583" sldId="275"/>
            <ac:spMk id="4" creationId="{CFFAFF98-1B36-CD0F-4A47-94476675687A}"/>
          </ac:spMkLst>
        </pc:spChg>
        <pc:spChg chg="mod">
          <ac:chgData name="Meenakshi Saxena" userId="42f5ea5ddd825210" providerId="LiveId" clId="{562E80D9-247E-4B47-BAAC-A5709D155035}" dt="2026-07-05T02:09:54.517" v="220" actId="20577"/>
          <ac:spMkLst>
            <pc:docMk/>
            <pc:sldMk cId="3594443583" sldId="275"/>
            <ac:spMk id="8" creationId="{C07EAF89-9E02-6908-71CC-A7982A53FEC1}"/>
          </ac:spMkLst>
        </pc:spChg>
      </pc:sldChg>
      <pc:sldChg chg="modSp add mod">
        <pc:chgData name="Meenakshi Saxena" userId="42f5ea5ddd825210" providerId="LiveId" clId="{562E80D9-247E-4B47-BAAC-A5709D155035}" dt="2026-07-05T02:19:09.653" v="329" actId="20577"/>
        <pc:sldMkLst>
          <pc:docMk/>
          <pc:sldMk cId="1324013481" sldId="276"/>
        </pc:sldMkLst>
        <pc:spChg chg="mod">
          <ac:chgData name="Meenakshi Saxena" userId="42f5ea5ddd825210" providerId="LiveId" clId="{562E80D9-247E-4B47-BAAC-A5709D155035}" dt="2026-07-05T02:19:09.653" v="329" actId="20577"/>
          <ac:spMkLst>
            <pc:docMk/>
            <pc:sldMk cId="1324013481" sldId="276"/>
            <ac:spMk id="4" creationId="{6BDA09F0-8F63-6B17-6A34-E2E3EF4891AB}"/>
          </ac:spMkLst>
        </pc:spChg>
        <pc:spChg chg="mod">
          <ac:chgData name="Meenakshi Saxena" userId="42f5ea5ddd825210" providerId="LiveId" clId="{562E80D9-247E-4B47-BAAC-A5709D155035}" dt="2026-07-05T02:14:12.268" v="273" actId="20577"/>
          <ac:spMkLst>
            <pc:docMk/>
            <pc:sldMk cId="1324013481" sldId="276"/>
            <ac:spMk id="8" creationId="{2F71FAFE-F613-2B84-385D-CAFC9A7E94BF}"/>
          </ac:spMkLst>
        </pc:spChg>
      </pc:sldChg>
      <pc:sldChg chg="modSp add mod">
        <pc:chgData name="Meenakshi Saxena" userId="42f5ea5ddd825210" providerId="LiveId" clId="{562E80D9-247E-4B47-BAAC-A5709D155035}" dt="2026-07-05T02:24:09.332" v="428" actId="113"/>
        <pc:sldMkLst>
          <pc:docMk/>
          <pc:sldMk cId="2312000610" sldId="277"/>
        </pc:sldMkLst>
        <pc:spChg chg="mod">
          <ac:chgData name="Meenakshi Saxena" userId="42f5ea5ddd825210" providerId="LiveId" clId="{562E80D9-247E-4B47-BAAC-A5709D155035}" dt="2026-07-05T02:24:09.332" v="428" actId="113"/>
          <ac:spMkLst>
            <pc:docMk/>
            <pc:sldMk cId="2312000610" sldId="277"/>
            <ac:spMk id="4" creationId="{A5AA7BAC-5D64-8110-4419-B832061451F5}"/>
          </ac:spMkLst>
        </pc:spChg>
        <pc:spChg chg="mod">
          <ac:chgData name="Meenakshi Saxena" userId="42f5ea5ddd825210" providerId="LiveId" clId="{562E80D9-247E-4B47-BAAC-A5709D155035}" dt="2026-07-05T02:20:31.333" v="358" actId="20577"/>
          <ac:spMkLst>
            <pc:docMk/>
            <pc:sldMk cId="2312000610" sldId="277"/>
            <ac:spMk id="8" creationId="{B6B67683-5658-88D2-F280-231B61CEF331}"/>
          </ac:spMkLst>
        </pc:spChg>
      </pc:sldChg>
      <pc:sldChg chg="modSp add mod">
        <pc:chgData name="Meenakshi Saxena" userId="42f5ea5ddd825210" providerId="LiveId" clId="{562E80D9-247E-4B47-BAAC-A5709D155035}" dt="2026-07-05T02:27:54.695" v="468" actId="20577"/>
        <pc:sldMkLst>
          <pc:docMk/>
          <pc:sldMk cId="4216883039" sldId="278"/>
        </pc:sldMkLst>
        <pc:spChg chg="mod">
          <ac:chgData name="Meenakshi Saxena" userId="42f5ea5ddd825210" providerId="LiveId" clId="{562E80D9-247E-4B47-BAAC-A5709D155035}" dt="2026-07-05T02:27:54.695" v="468" actId="20577"/>
          <ac:spMkLst>
            <pc:docMk/>
            <pc:sldMk cId="4216883039" sldId="278"/>
            <ac:spMk id="4" creationId="{EB2A1C30-2DBC-D2B3-63D3-50F2D690A1C7}"/>
          </ac:spMkLst>
        </pc:spChg>
        <pc:spChg chg="mod">
          <ac:chgData name="Meenakshi Saxena" userId="42f5ea5ddd825210" providerId="LiveId" clId="{562E80D9-247E-4B47-BAAC-A5709D155035}" dt="2026-07-05T02:25:57.068" v="445" actId="20577"/>
          <ac:spMkLst>
            <pc:docMk/>
            <pc:sldMk cId="4216883039" sldId="278"/>
            <ac:spMk id="8" creationId="{6E857347-B042-3633-C9FB-CD27A9806813}"/>
          </ac:spMkLst>
        </pc:spChg>
      </pc:sldChg>
      <pc:sldChg chg="modSp add mod">
        <pc:chgData name="Meenakshi Saxena" userId="42f5ea5ddd825210" providerId="LiveId" clId="{562E80D9-247E-4B47-BAAC-A5709D155035}" dt="2026-07-05T16:32:25.322" v="604" actId="20577"/>
        <pc:sldMkLst>
          <pc:docMk/>
          <pc:sldMk cId="1488466886" sldId="279"/>
        </pc:sldMkLst>
        <pc:spChg chg="mod">
          <ac:chgData name="Meenakshi Saxena" userId="42f5ea5ddd825210" providerId="LiveId" clId="{562E80D9-247E-4B47-BAAC-A5709D155035}" dt="2026-07-05T16:22:56.470" v="542" actId="20577"/>
          <ac:spMkLst>
            <pc:docMk/>
            <pc:sldMk cId="1488466886" sldId="279"/>
            <ac:spMk id="3" creationId="{42F933DC-FDCA-BBDC-C88D-BFD44EE5F64B}"/>
          </ac:spMkLst>
        </pc:spChg>
        <pc:spChg chg="mod">
          <ac:chgData name="Meenakshi Saxena" userId="42f5ea5ddd825210" providerId="LiveId" clId="{562E80D9-247E-4B47-BAAC-A5709D155035}" dt="2026-07-05T16:32:25.322" v="604" actId="20577"/>
          <ac:spMkLst>
            <pc:docMk/>
            <pc:sldMk cId="1488466886" sldId="279"/>
            <ac:spMk id="4" creationId="{B5FF5B64-A031-7CE0-DAB1-9DFA7BB29593}"/>
          </ac:spMkLst>
        </pc:spChg>
        <pc:spChg chg="mod">
          <ac:chgData name="Meenakshi Saxena" userId="42f5ea5ddd825210" providerId="LiveId" clId="{562E80D9-247E-4B47-BAAC-A5709D155035}" dt="2026-07-05T16:22:40.445" v="499" actId="20577"/>
          <ac:spMkLst>
            <pc:docMk/>
            <pc:sldMk cId="1488466886" sldId="279"/>
            <ac:spMk id="8" creationId="{2897BC7A-9EBC-56F1-EFD7-07FA0860602A}"/>
          </ac:spMkLst>
        </pc:spChg>
      </pc:sldChg>
      <pc:sldChg chg="delSp new mod">
        <pc:chgData name="Meenakshi Saxena" userId="42f5ea5ddd825210" providerId="LiveId" clId="{562E80D9-247E-4B47-BAAC-A5709D155035}" dt="2026-07-10T13:34:38.840" v="606" actId="478"/>
        <pc:sldMkLst>
          <pc:docMk/>
          <pc:sldMk cId="52708259" sldId="280"/>
        </pc:sldMkLst>
        <pc:spChg chg="del">
          <ac:chgData name="Meenakshi Saxena" userId="42f5ea5ddd825210" providerId="LiveId" clId="{562E80D9-247E-4B47-BAAC-A5709D155035}" dt="2026-07-10T13:34:38.840" v="606" actId="478"/>
          <ac:spMkLst>
            <pc:docMk/>
            <pc:sldMk cId="52708259" sldId="280"/>
            <ac:spMk id="2" creationId="{B58EFB17-D934-AFB7-2031-749B38B75446}"/>
          </ac:spMkLst>
        </pc:spChg>
        <pc:spChg chg="del">
          <ac:chgData name="Meenakshi Saxena" userId="42f5ea5ddd825210" providerId="LiveId" clId="{562E80D9-247E-4B47-BAAC-A5709D155035}" dt="2026-07-10T13:34:38.840" v="606" actId="478"/>
          <ac:spMkLst>
            <pc:docMk/>
            <pc:sldMk cId="52708259" sldId="280"/>
            <ac:spMk id="3" creationId="{6D962F4D-BDD4-3FD7-BF3E-9D37FE37E821}"/>
          </ac:spMkLst>
        </pc:spChg>
      </pc:sldChg>
      <pc:sldChg chg="modSp add mod">
        <pc:chgData name="Meenakshi Saxena" userId="42f5ea5ddd825210" providerId="LiveId" clId="{562E80D9-247E-4B47-BAAC-A5709D155035}" dt="2026-07-10T13:40:30.169" v="867" actId="6549"/>
        <pc:sldMkLst>
          <pc:docMk/>
          <pc:sldMk cId="3753023432" sldId="281"/>
        </pc:sldMkLst>
        <pc:spChg chg="mod">
          <ac:chgData name="Meenakshi Saxena" userId="42f5ea5ddd825210" providerId="LiveId" clId="{562E80D9-247E-4B47-BAAC-A5709D155035}" dt="2026-07-10T13:40:30.169" v="867" actId="6549"/>
          <ac:spMkLst>
            <pc:docMk/>
            <pc:sldMk cId="3753023432" sldId="281"/>
            <ac:spMk id="4" creationId="{72D8BB0F-4552-F3DA-3269-920825239A66}"/>
          </ac:spMkLst>
        </pc:spChg>
        <pc:spChg chg="mod">
          <ac:chgData name="Meenakshi Saxena" userId="42f5ea5ddd825210" providerId="LiveId" clId="{562E80D9-247E-4B47-BAAC-A5709D155035}" dt="2026-07-10T13:34:56.190" v="621" actId="6549"/>
          <ac:spMkLst>
            <pc:docMk/>
            <pc:sldMk cId="3753023432" sldId="281"/>
            <ac:spMk id="8" creationId="{8E6BEC35-1845-5D5F-C59B-18299975F914}"/>
          </ac:spMkLst>
        </pc:spChg>
      </pc:sldChg>
      <pc:sldChg chg="addSp delSp modSp add mod">
        <pc:chgData name="Meenakshi Saxena" userId="42f5ea5ddd825210" providerId="LiveId" clId="{562E80D9-247E-4B47-BAAC-A5709D155035}" dt="2026-07-10T13:50:14.670" v="1388" actId="1076"/>
        <pc:sldMkLst>
          <pc:docMk/>
          <pc:sldMk cId="3409853227" sldId="282"/>
        </pc:sldMkLst>
        <pc:spChg chg="add mod">
          <ac:chgData name="Meenakshi Saxena" userId="42f5ea5ddd825210" providerId="LiveId" clId="{562E80D9-247E-4B47-BAAC-A5709D155035}" dt="2026-07-10T13:45:37.034" v="1318" actId="20577"/>
          <ac:spMkLst>
            <pc:docMk/>
            <pc:sldMk cId="3409853227" sldId="282"/>
            <ac:spMk id="3" creationId="{C5769E12-34C6-9F66-0685-F96733040647}"/>
          </ac:spMkLst>
        </pc:spChg>
        <pc:spChg chg="mod">
          <ac:chgData name="Meenakshi Saxena" userId="42f5ea5ddd825210" providerId="LiveId" clId="{562E80D9-247E-4B47-BAAC-A5709D155035}" dt="2026-07-10T13:43:00.981" v="1146" actId="20577"/>
          <ac:spMkLst>
            <pc:docMk/>
            <pc:sldMk cId="3409853227" sldId="282"/>
            <ac:spMk id="4" creationId="{77169372-48A5-54FD-5365-FE516A3A42C5}"/>
          </ac:spMkLst>
        </pc:spChg>
        <pc:spChg chg="add mod">
          <ac:chgData name="Meenakshi Saxena" userId="42f5ea5ddd825210" providerId="LiveId" clId="{562E80D9-247E-4B47-BAAC-A5709D155035}" dt="2026-07-10T13:46:36.096" v="1334" actId="13822"/>
          <ac:spMkLst>
            <pc:docMk/>
            <pc:sldMk cId="3409853227" sldId="282"/>
            <ac:spMk id="5" creationId="{E2731BAC-107D-B83B-C02C-CECEB2CA21D6}"/>
          </ac:spMkLst>
        </pc:spChg>
        <pc:spChg chg="add mod">
          <ac:chgData name="Meenakshi Saxena" userId="42f5ea5ddd825210" providerId="LiveId" clId="{562E80D9-247E-4B47-BAAC-A5709D155035}" dt="2026-07-10T13:46:36.096" v="1334" actId="13822"/>
          <ac:spMkLst>
            <pc:docMk/>
            <pc:sldMk cId="3409853227" sldId="282"/>
            <ac:spMk id="7" creationId="{D4639050-7254-9816-E954-5C2D9252C117}"/>
          </ac:spMkLst>
        </pc:spChg>
        <pc:spChg chg="mod">
          <ac:chgData name="Meenakshi Saxena" userId="42f5ea5ddd825210" providerId="LiveId" clId="{562E80D9-247E-4B47-BAAC-A5709D155035}" dt="2026-07-10T13:41:02.008" v="892" actId="20577"/>
          <ac:spMkLst>
            <pc:docMk/>
            <pc:sldMk cId="3409853227" sldId="282"/>
            <ac:spMk id="8" creationId="{0680A276-7738-C2CF-9B30-39083BFBCB04}"/>
          </ac:spMkLst>
        </pc:spChg>
        <pc:spChg chg="add del">
          <ac:chgData name="Meenakshi Saxena" userId="42f5ea5ddd825210" providerId="LiveId" clId="{562E80D9-247E-4B47-BAAC-A5709D155035}" dt="2026-07-10T13:46:06.408" v="1328" actId="478"/>
          <ac:spMkLst>
            <pc:docMk/>
            <pc:sldMk cId="3409853227" sldId="282"/>
            <ac:spMk id="10" creationId="{F7D18617-7619-B057-3C9D-BEC9CD121313}"/>
          </ac:spMkLst>
        </pc:spChg>
        <pc:spChg chg="add mod">
          <ac:chgData name="Meenakshi Saxena" userId="42f5ea5ddd825210" providerId="LiveId" clId="{562E80D9-247E-4B47-BAAC-A5709D155035}" dt="2026-07-10T13:46:36.096" v="1334" actId="13822"/>
          <ac:spMkLst>
            <pc:docMk/>
            <pc:sldMk cId="3409853227" sldId="282"/>
            <ac:spMk id="12" creationId="{8B3ABE95-A4F6-0A05-C1C6-332B5BFFA982}"/>
          </ac:spMkLst>
        </pc:spChg>
        <pc:spChg chg="add mod">
          <ac:chgData name="Meenakshi Saxena" userId="42f5ea5ddd825210" providerId="LiveId" clId="{562E80D9-247E-4B47-BAAC-A5709D155035}" dt="2026-07-10T13:46:36.096" v="1334" actId="13822"/>
          <ac:spMkLst>
            <pc:docMk/>
            <pc:sldMk cId="3409853227" sldId="282"/>
            <ac:spMk id="14" creationId="{F0BC4BD2-604A-6E4E-3704-293F84D10CCF}"/>
          </ac:spMkLst>
        </pc:spChg>
        <pc:spChg chg="add mod">
          <ac:chgData name="Meenakshi Saxena" userId="42f5ea5ddd825210" providerId="LiveId" clId="{562E80D9-247E-4B47-BAAC-A5709D155035}" dt="2026-07-10T13:49:03.500" v="1367" actId="1037"/>
          <ac:spMkLst>
            <pc:docMk/>
            <pc:sldMk cId="3409853227" sldId="282"/>
            <ac:spMk id="16" creationId="{AAC9C195-99E2-FD79-4C8C-6F8AA9F45BD6}"/>
          </ac:spMkLst>
        </pc:spChg>
        <pc:spChg chg="add mod">
          <ac:chgData name="Meenakshi Saxena" userId="42f5ea5ddd825210" providerId="LiveId" clId="{562E80D9-247E-4B47-BAAC-A5709D155035}" dt="2026-07-10T13:49:11.738" v="1368" actId="122"/>
          <ac:spMkLst>
            <pc:docMk/>
            <pc:sldMk cId="3409853227" sldId="282"/>
            <ac:spMk id="18" creationId="{5D2A0D2F-1B85-88A4-5CF4-5C89BF8C276E}"/>
          </ac:spMkLst>
        </pc:spChg>
        <pc:spChg chg="add mod">
          <ac:chgData name="Meenakshi Saxena" userId="42f5ea5ddd825210" providerId="LiveId" clId="{562E80D9-247E-4B47-BAAC-A5709D155035}" dt="2026-07-10T13:49:39.111" v="1372" actId="13822"/>
          <ac:spMkLst>
            <pc:docMk/>
            <pc:sldMk cId="3409853227" sldId="282"/>
            <ac:spMk id="19" creationId="{6A4184CE-F12A-64E3-48D6-9BB2D80EC533}"/>
          </ac:spMkLst>
        </pc:spChg>
        <pc:spChg chg="add mod">
          <ac:chgData name="Meenakshi Saxena" userId="42f5ea5ddd825210" providerId="LiveId" clId="{562E80D9-247E-4B47-BAAC-A5709D155035}" dt="2026-07-10T13:50:14.670" v="1388" actId="1076"/>
          <ac:spMkLst>
            <pc:docMk/>
            <pc:sldMk cId="3409853227" sldId="282"/>
            <ac:spMk id="21" creationId="{10CF049E-77CC-F1CE-E762-AE9474C3629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C33CE-1757-1B5A-272F-FB3F2709AA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C1DAF94-1721-269B-1042-E5C9EBB074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6546A67-84A8-EABA-A619-456B72D6F413}"/>
              </a:ext>
            </a:extLst>
          </p:cNvPr>
          <p:cNvSpPr>
            <a:spLocks noGrp="1"/>
          </p:cNvSpPr>
          <p:nvPr>
            <p:ph type="dt" sz="half" idx="10"/>
          </p:nvPr>
        </p:nvSpPr>
        <p:spPr/>
        <p:txBody>
          <a:bodyPr/>
          <a:lstStyle/>
          <a:p>
            <a:fld id="{363CA53E-B5FE-4760-8EDE-A27B8E9A1AB4}" type="datetimeFigureOut">
              <a:rPr lang="en-IN" smtClean="0"/>
              <a:t>10-07-2026</a:t>
            </a:fld>
            <a:endParaRPr lang="en-IN"/>
          </a:p>
        </p:txBody>
      </p:sp>
      <p:sp>
        <p:nvSpPr>
          <p:cNvPr id="5" name="Footer Placeholder 4">
            <a:extLst>
              <a:ext uri="{FF2B5EF4-FFF2-40B4-BE49-F238E27FC236}">
                <a16:creationId xmlns:a16="http://schemas.microsoft.com/office/drawing/2014/main" id="{096D6B7B-8B37-660E-4F5F-03BD2704F0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856AE9-7309-22DE-CBAB-C83B0C803650}"/>
              </a:ext>
            </a:extLst>
          </p:cNvPr>
          <p:cNvSpPr>
            <a:spLocks noGrp="1"/>
          </p:cNvSpPr>
          <p:nvPr>
            <p:ph type="sldNum" sz="quarter" idx="12"/>
          </p:nvPr>
        </p:nvSpPr>
        <p:spPr/>
        <p:txBody>
          <a:bodyPr/>
          <a:lstStyle/>
          <a:p>
            <a:fld id="{82294451-D2CF-48B1-B27E-981A2CEA083C}" type="slidenum">
              <a:rPr lang="en-IN" smtClean="0"/>
              <a:t>‹#›</a:t>
            </a:fld>
            <a:endParaRPr lang="en-IN"/>
          </a:p>
        </p:txBody>
      </p:sp>
    </p:spTree>
    <p:extLst>
      <p:ext uri="{BB962C8B-B14F-4D97-AF65-F5344CB8AC3E}">
        <p14:creationId xmlns:p14="http://schemas.microsoft.com/office/powerpoint/2010/main" val="23774922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464F3-BA65-1221-491F-08998A2A948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CD82CBC-1BF4-FBA3-6E52-198DC3F7662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E4C2BC-3F67-E6AB-E87C-1FC2980D1516}"/>
              </a:ext>
            </a:extLst>
          </p:cNvPr>
          <p:cNvSpPr>
            <a:spLocks noGrp="1"/>
          </p:cNvSpPr>
          <p:nvPr>
            <p:ph type="dt" sz="half" idx="10"/>
          </p:nvPr>
        </p:nvSpPr>
        <p:spPr/>
        <p:txBody>
          <a:bodyPr/>
          <a:lstStyle/>
          <a:p>
            <a:fld id="{363CA53E-B5FE-4760-8EDE-A27B8E9A1AB4}" type="datetimeFigureOut">
              <a:rPr lang="en-IN" smtClean="0"/>
              <a:t>10-07-2026</a:t>
            </a:fld>
            <a:endParaRPr lang="en-IN"/>
          </a:p>
        </p:txBody>
      </p:sp>
      <p:sp>
        <p:nvSpPr>
          <p:cNvPr id="5" name="Footer Placeholder 4">
            <a:extLst>
              <a:ext uri="{FF2B5EF4-FFF2-40B4-BE49-F238E27FC236}">
                <a16:creationId xmlns:a16="http://schemas.microsoft.com/office/drawing/2014/main" id="{038987BA-622B-223B-D099-A9F15091C3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B0A93E-CB65-FD70-39C5-49E2EC51FCFF}"/>
              </a:ext>
            </a:extLst>
          </p:cNvPr>
          <p:cNvSpPr>
            <a:spLocks noGrp="1"/>
          </p:cNvSpPr>
          <p:nvPr>
            <p:ph type="sldNum" sz="quarter" idx="12"/>
          </p:nvPr>
        </p:nvSpPr>
        <p:spPr/>
        <p:txBody>
          <a:bodyPr/>
          <a:lstStyle/>
          <a:p>
            <a:fld id="{82294451-D2CF-48B1-B27E-981A2CEA083C}" type="slidenum">
              <a:rPr lang="en-IN" smtClean="0"/>
              <a:t>‹#›</a:t>
            </a:fld>
            <a:endParaRPr lang="en-IN"/>
          </a:p>
        </p:txBody>
      </p:sp>
    </p:spTree>
    <p:extLst>
      <p:ext uri="{BB962C8B-B14F-4D97-AF65-F5344CB8AC3E}">
        <p14:creationId xmlns:p14="http://schemas.microsoft.com/office/powerpoint/2010/main" val="3068606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B03A3-0626-B096-B83F-58B674D460A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66A9404-538B-E3B1-134A-01A600D2A2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DA0EFE-914E-C31B-BBCB-7265834732FA}"/>
              </a:ext>
            </a:extLst>
          </p:cNvPr>
          <p:cNvSpPr>
            <a:spLocks noGrp="1"/>
          </p:cNvSpPr>
          <p:nvPr>
            <p:ph type="dt" sz="half" idx="10"/>
          </p:nvPr>
        </p:nvSpPr>
        <p:spPr/>
        <p:txBody>
          <a:bodyPr/>
          <a:lstStyle/>
          <a:p>
            <a:fld id="{363CA53E-B5FE-4760-8EDE-A27B8E9A1AB4}" type="datetimeFigureOut">
              <a:rPr lang="en-IN" smtClean="0"/>
              <a:t>10-07-2026</a:t>
            </a:fld>
            <a:endParaRPr lang="en-IN"/>
          </a:p>
        </p:txBody>
      </p:sp>
      <p:sp>
        <p:nvSpPr>
          <p:cNvPr id="5" name="Footer Placeholder 4">
            <a:extLst>
              <a:ext uri="{FF2B5EF4-FFF2-40B4-BE49-F238E27FC236}">
                <a16:creationId xmlns:a16="http://schemas.microsoft.com/office/drawing/2014/main" id="{8517555E-E1B2-A366-61E7-804A7FBC9F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095706-CA34-C63A-34E4-280D1431C49A}"/>
              </a:ext>
            </a:extLst>
          </p:cNvPr>
          <p:cNvSpPr>
            <a:spLocks noGrp="1"/>
          </p:cNvSpPr>
          <p:nvPr>
            <p:ph type="sldNum" sz="quarter" idx="12"/>
          </p:nvPr>
        </p:nvSpPr>
        <p:spPr/>
        <p:txBody>
          <a:bodyPr/>
          <a:lstStyle/>
          <a:p>
            <a:fld id="{82294451-D2CF-48B1-B27E-981A2CEA083C}" type="slidenum">
              <a:rPr lang="en-IN" smtClean="0"/>
              <a:t>‹#›</a:t>
            </a:fld>
            <a:endParaRPr lang="en-IN"/>
          </a:p>
        </p:txBody>
      </p:sp>
    </p:spTree>
    <p:extLst>
      <p:ext uri="{BB962C8B-B14F-4D97-AF65-F5344CB8AC3E}">
        <p14:creationId xmlns:p14="http://schemas.microsoft.com/office/powerpoint/2010/main" val="2898617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B426C-16C5-9EE6-92AD-1150B3BD35C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B19D3BD-91EA-D1BC-1980-D96D13E6A77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1162CDC-C9B9-8A85-8316-D9C67486B4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C1463FA-ABC1-11C0-8084-0D9157A9BAD1}"/>
              </a:ext>
            </a:extLst>
          </p:cNvPr>
          <p:cNvSpPr>
            <a:spLocks noGrp="1"/>
          </p:cNvSpPr>
          <p:nvPr>
            <p:ph type="dt" sz="half" idx="10"/>
          </p:nvPr>
        </p:nvSpPr>
        <p:spPr/>
        <p:txBody>
          <a:bodyPr/>
          <a:lstStyle/>
          <a:p>
            <a:fld id="{363CA53E-B5FE-4760-8EDE-A27B8E9A1AB4}" type="datetimeFigureOut">
              <a:rPr lang="en-IN" smtClean="0"/>
              <a:t>10-07-2026</a:t>
            </a:fld>
            <a:endParaRPr lang="en-IN"/>
          </a:p>
        </p:txBody>
      </p:sp>
      <p:sp>
        <p:nvSpPr>
          <p:cNvPr id="6" name="Footer Placeholder 5">
            <a:extLst>
              <a:ext uri="{FF2B5EF4-FFF2-40B4-BE49-F238E27FC236}">
                <a16:creationId xmlns:a16="http://schemas.microsoft.com/office/drawing/2014/main" id="{3775AA6A-F628-09A3-0DA5-0E4B9C3709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F3C3E31-B88D-C298-7B83-AA3979764CF1}"/>
              </a:ext>
            </a:extLst>
          </p:cNvPr>
          <p:cNvSpPr>
            <a:spLocks noGrp="1"/>
          </p:cNvSpPr>
          <p:nvPr>
            <p:ph type="sldNum" sz="quarter" idx="12"/>
          </p:nvPr>
        </p:nvSpPr>
        <p:spPr/>
        <p:txBody>
          <a:bodyPr/>
          <a:lstStyle/>
          <a:p>
            <a:fld id="{82294451-D2CF-48B1-B27E-981A2CEA083C}" type="slidenum">
              <a:rPr lang="en-IN" smtClean="0"/>
              <a:t>‹#›</a:t>
            </a:fld>
            <a:endParaRPr lang="en-IN"/>
          </a:p>
        </p:txBody>
      </p:sp>
    </p:spTree>
    <p:extLst>
      <p:ext uri="{BB962C8B-B14F-4D97-AF65-F5344CB8AC3E}">
        <p14:creationId xmlns:p14="http://schemas.microsoft.com/office/powerpoint/2010/main" val="1796131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9F85D-3893-757E-C3EC-151BC2659B6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EDE2FD6-8FD2-5919-8DD7-83C0ADBF5A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CC1D42-A696-F730-B678-D2E3350C7D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32A1470-17A5-2C6C-586B-6BD672FD5B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54A858C-EA1E-B42B-5BBB-C97F96D385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17278C9-B007-6A81-D125-71CE08C6525A}"/>
              </a:ext>
            </a:extLst>
          </p:cNvPr>
          <p:cNvSpPr>
            <a:spLocks noGrp="1"/>
          </p:cNvSpPr>
          <p:nvPr>
            <p:ph type="dt" sz="half" idx="10"/>
          </p:nvPr>
        </p:nvSpPr>
        <p:spPr/>
        <p:txBody>
          <a:bodyPr/>
          <a:lstStyle/>
          <a:p>
            <a:fld id="{363CA53E-B5FE-4760-8EDE-A27B8E9A1AB4}" type="datetimeFigureOut">
              <a:rPr lang="en-IN" smtClean="0"/>
              <a:t>10-07-2026</a:t>
            </a:fld>
            <a:endParaRPr lang="en-IN"/>
          </a:p>
        </p:txBody>
      </p:sp>
      <p:sp>
        <p:nvSpPr>
          <p:cNvPr id="8" name="Footer Placeholder 7">
            <a:extLst>
              <a:ext uri="{FF2B5EF4-FFF2-40B4-BE49-F238E27FC236}">
                <a16:creationId xmlns:a16="http://schemas.microsoft.com/office/drawing/2014/main" id="{48B0FCC6-685A-6AE1-43CD-D367208607A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838A947-449F-C6D3-519D-34E2A6D016D0}"/>
              </a:ext>
            </a:extLst>
          </p:cNvPr>
          <p:cNvSpPr>
            <a:spLocks noGrp="1"/>
          </p:cNvSpPr>
          <p:nvPr>
            <p:ph type="sldNum" sz="quarter" idx="12"/>
          </p:nvPr>
        </p:nvSpPr>
        <p:spPr/>
        <p:txBody>
          <a:bodyPr/>
          <a:lstStyle/>
          <a:p>
            <a:fld id="{82294451-D2CF-48B1-B27E-981A2CEA083C}" type="slidenum">
              <a:rPr lang="en-IN" smtClean="0"/>
              <a:t>‹#›</a:t>
            </a:fld>
            <a:endParaRPr lang="en-IN"/>
          </a:p>
        </p:txBody>
      </p:sp>
    </p:spTree>
    <p:extLst>
      <p:ext uri="{BB962C8B-B14F-4D97-AF65-F5344CB8AC3E}">
        <p14:creationId xmlns:p14="http://schemas.microsoft.com/office/powerpoint/2010/main" val="23004262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FDEFC-9D5B-A247-40A7-9BC53EA1449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2F86F0F-8C29-8E34-D668-635429B9F208}"/>
              </a:ext>
            </a:extLst>
          </p:cNvPr>
          <p:cNvSpPr>
            <a:spLocks noGrp="1"/>
          </p:cNvSpPr>
          <p:nvPr>
            <p:ph type="dt" sz="half" idx="10"/>
          </p:nvPr>
        </p:nvSpPr>
        <p:spPr/>
        <p:txBody>
          <a:bodyPr/>
          <a:lstStyle/>
          <a:p>
            <a:fld id="{363CA53E-B5FE-4760-8EDE-A27B8E9A1AB4}" type="datetimeFigureOut">
              <a:rPr lang="en-IN" smtClean="0"/>
              <a:t>10-07-2026</a:t>
            </a:fld>
            <a:endParaRPr lang="en-IN"/>
          </a:p>
        </p:txBody>
      </p:sp>
      <p:sp>
        <p:nvSpPr>
          <p:cNvPr id="4" name="Footer Placeholder 3">
            <a:extLst>
              <a:ext uri="{FF2B5EF4-FFF2-40B4-BE49-F238E27FC236}">
                <a16:creationId xmlns:a16="http://schemas.microsoft.com/office/drawing/2014/main" id="{B5704FC2-6A91-E044-15A9-834CED7D36F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F84BBF7-CDB8-468B-5B70-E4F6E1B791B5}"/>
              </a:ext>
            </a:extLst>
          </p:cNvPr>
          <p:cNvSpPr>
            <a:spLocks noGrp="1"/>
          </p:cNvSpPr>
          <p:nvPr>
            <p:ph type="sldNum" sz="quarter" idx="12"/>
          </p:nvPr>
        </p:nvSpPr>
        <p:spPr/>
        <p:txBody>
          <a:bodyPr/>
          <a:lstStyle/>
          <a:p>
            <a:fld id="{82294451-D2CF-48B1-B27E-981A2CEA083C}" type="slidenum">
              <a:rPr lang="en-IN" smtClean="0"/>
              <a:t>‹#›</a:t>
            </a:fld>
            <a:endParaRPr lang="en-IN"/>
          </a:p>
        </p:txBody>
      </p:sp>
    </p:spTree>
    <p:extLst>
      <p:ext uri="{BB962C8B-B14F-4D97-AF65-F5344CB8AC3E}">
        <p14:creationId xmlns:p14="http://schemas.microsoft.com/office/powerpoint/2010/main" val="13787913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6D0E0F-88F1-EC93-20BA-EBE3DA1AA8D1}"/>
              </a:ext>
            </a:extLst>
          </p:cNvPr>
          <p:cNvSpPr>
            <a:spLocks noGrp="1"/>
          </p:cNvSpPr>
          <p:nvPr>
            <p:ph type="dt" sz="half" idx="10"/>
          </p:nvPr>
        </p:nvSpPr>
        <p:spPr/>
        <p:txBody>
          <a:bodyPr/>
          <a:lstStyle/>
          <a:p>
            <a:fld id="{363CA53E-B5FE-4760-8EDE-A27B8E9A1AB4}" type="datetimeFigureOut">
              <a:rPr lang="en-IN" smtClean="0"/>
              <a:t>10-07-2026</a:t>
            </a:fld>
            <a:endParaRPr lang="en-IN"/>
          </a:p>
        </p:txBody>
      </p:sp>
      <p:sp>
        <p:nvSpPr>
          <p:cNvPr id="3" name="Footer Placeholder 2">
            <a:extLst>
              <a:ext uri="{FF2B5EF4-FFF2-40B4-BE49-F238E27FC236}">
                <a16:creationId xmlns:a16="http://schemas.microsoft.com/office/drawing/2014/main" id="{C58EF6A4-1112-B736-117B-23B790DDC82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11E4608-7016-4089-2D7A-70CD14EFA589}"/>
              </a:ext>
            </a:extLst>
          </p:cNvPr>
          <p:cNvSpPr>
            <a:spLocks noGrp="1"/>
          </p:cNvSpPr>
          <p:nvPr>
            <p:ph type="sldNum" sz="quarter" idx="12"/>
          </p:nvPr>
        </p:nvSpPr>
        <p:spPr/>
        <p:txBody>
          <a:bodyPr/>
          <a:lstStyle/>
          <a:p>
            <a:fld id="{82294451-D2CF-48B1-B27E-981A2CEA083C}" type="slidenum">
              <a:rPr lang="en-IN" smtClean="0"/>
              <a:t>‹#›</a:t>
            </a:fld>
            <a:endParaRPr lang="en-IN"/>
          </a:p>
        </p:txBody>
      </p:sp>
    </p:spTree>
    <p:extLst>
      <p:ext uri="{BB962C8B-B14F-4D97-AF65-F5344CB8AC3E}">
        <p14:creationId xmlns:p14="http://schemas.microsoft.com/office/powerpoint/2010/main" val="1616400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C1B63-9932-E36E-557C-2A3E7B2920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5E817A8-673C-6BEA-CFEC-237E3D3C09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7476C49-79B1-4312-8FCE-A48EE0E16D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F9FFDE-24D7-B160-07E8-B2D6C091FB0A}"/>
              </a:ext>
            </a:extLst>
          </p:cNvPr>
          <p:cNvSpPr>
            <a:spLocks noGrp="1"/>
          </p:cNvSpPr>
          <p:nvPr>
            <p:ph type="dt" sz="half" idx="10"/>
          </p:nvPr>
        </p:nvSpPr>
        <p:spPr/>
        <p:txBody>
          <a:bodyPr/>
          <a:lstStyle/>
          <a:p>
            <a:fld id="{363CA53E-B5FE-4760-8EDE-A27B8E9A1AB4}" type="datetimeFigureOut">
              <a:rPr lang="en-IN" smtClean="0"/>
              <a:t>10-07-2026</a:t>
            </a:fld>
            <a:endParaRPr lang="en-IN"/>
          </a:p>
        </p:txBody>
      </p:sp>
      <p:sp>
        <p:nvSpPr>
          <p:cNvPr id="6" name="Footer Placeholder 5">
            <a:extLst>
              <a:ext uri="{FF2B5EF4-FFF2-40B4-BE49-F238E27FC236}">
                <a16:creationId xmlns:a16="http://schemas.microsoft.com/office/drawing/2014/main" id="{B283F7C6-2167-F1AA-9C50-D400DE411DC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276DB74-CCAD-4589-6354-82C64BA44C87}"/>
              </a:ext>
            </a:extLst>
          </p:cNvPr>
          <p:cNvSpPr>
            <a:spLocks noGrp="1"/>
          </p:cNvSpPr>
          <p:nvPr>
            <p:ph type="sldNum" sz="quarter" idx="12"/>
          </p:nvPr>
        </p:nvSpPr>
        <p:spPr/>
        <p:txBody>
          <a:bodyPr/>
          <a:lstStyle/>
          <a:p>
            <a:fld id="{82294451-D2CF-48B1-B27E-981A2CEA083C}" type="slidenum">
              <a:rPr lang="en-IN" smtClean="0"/>
              <a:t>‹#›</a:t>
            </a:fld>
            <a:endParaRPr lang="en-IN"/>
          </a:p>
        </p:txBody>
      </p:sp>
    </p:spTree>
    <p:extLst>
      <p:ext uri="{BB962C8B-B14F-4D97-AF65-F5344CB8AC3E}">
        <p14:creationId xmlns:p14="http://schemas.microsoft.com/office/powerpoint/2010/main" val="24588942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20125-CF7A-D3D7-48AC-5177F121DF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7533DB4-C694-30E7-0BD7-F21C099F42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D9BDD65-23A0-0FC9-BB60-232A163BC9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E36B40-538C-02F0-6058-0C94B9F0C81A}"/>
              </a:ext>
            </a:extLst>
          </p:cNvPr>
          <p:cNvSpPr>
            <a:spLocks noGrp="1"/>
          </p:cNvSpPr>
          <p:nvPr>
            <p:ph type="dt" sz="half" idx="10"/>
          </p:nvPr>
        </p:nvSpPr>
        <p:spPr/>
        <p:txBody>
          <a:bodyPr/>
          <a:lstStyle/>
          <a:p>
            <a:fld id="{363CA53E-B5FE-4760-8EDE-A27B8E9A1AB4}" type="datetimeFigureOut">
              <a:rPr lang="en-IN" smtClean="0"/>
              <a:t>10-07-2026</a:t>
            </a:fld>
            <a:endParaRPr lang="en-IN"/>
          </a:p>
        </p:txBody>
      </p:sp>
      <p:sp>
        <p:nvSpPr>
          <p:cNvPr id="6" name="Footer Placeholder 5">
            <a:extLst>
              <a:ext uri="{FF2B5EF4-FFF2-40B4-BE49-F238E27FC236}">
                <a16:creationId xmlns:a16="http://schemas.microsoft.com/office/drawing/2014/main" id="{F7BDE681-A97F-3698-7FAE-59F89BA19B4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7A3726A-9661-B64D-26E7-FBF79F3A8F01}"/>
              </a:ext>
            </a:extLst>
          </p:cNvPr>
          <p:cNvSpPr>
            <a:spLocks noGrp="1"/>
          </p:cNvSpPr>
          <p:nvPr>
            <p:ph type="sldNum" sz="quarter" idx="12"/>
          </p:nvPr>
        </p:nvSpPr>
        <p:spPr/>
        <p:txBody>
          <a:bodyPr/>
          <a:lstStyle/>
          <a:p>
            <a:fld id="{82294451-D2CF-48B1-B27E-981A2CEA083C}" type="slidenum">
              <a:rPr lang="en-IN" smtClean="0"/>
              <a:t>‹#›</a:t>
            </a:fld>
            <a:endParaRPr lang="en-IN"/>
          </a:p>
        </p:txBody>
      </p:sp>
    </p:spTree>
    <p:extLst>
      <p:ext uri="{BB962C8B-B14F-4D97-AF65-F5344CB8AC3E}">
        <p14:creationId xmlns:p14="http://schemas.microsoft.com/office/powerpoint/2010/main" val="39261548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E2CC4-C874-2F7C-3DD3-86D55992DF7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E8A971A-8AE2-FAAC-F009-48F753918B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1BF578-A688-4EC7-2D68-47396D601B0A}"/>
              </a:ext>
            </a:extLst>
          </p:cNvPr>
          <p:cNvSpPr>
            <a:spLocks noGrp="1"/>
          </p:cNvSpPr>
          <p:nvPr>
            <p:ph type="dt" sz="half" idx="10"/>
          </p:nvPr>
        </p:nvSpPr>
        <p:spPr/>
        <p:txBody>
          <a:bodyPr/>
          <a:lstStyle/>
          <a:p>
            <a:fld id="{363CA53E-B5FE-4760-8EDE-A27B8E9A1AB4}" type="datetimeFigureOut">
              <a:rPr lang="en-IN" smtClean="0"/>
              <a:t>10-07-2026</a:t>
            </a:fld>
            <a:endParaRPr lang="en-IN"/>
          </a:p>
        </p:txBody>
      </p:sp>
      <p:sp>
        <p:nvSpPr>
          <p:cNvPr id="5" name="Footer Placeholder 4">
            <a:extLst>
              <a:ext uri="{FF2B5EF4-FFF2-40B4-BE49-F238E27FC236}">
                <a16:creationId xmlns:a16="http://schemas.microsoft.com/office/drawing/2014/main" id="{236FFAF6-FF65-EA46-A7D4-A35069BEC8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1AC378-8082-E895-DA25-BEA37708F115}"/>
              </a:ext>
            </a:extLst>
          </p:cNvPr>
          <p:cNvSpPr>
            <a:spLocks noGrp="1"/>
          </p:cNvSpPr>
          <p:nvPr>
            <p:ph type="sldNum" sz="quarter" idx="12"/>
          </p:nvPr>
        </p:nvSpPr>
        <p:spPr/>
        <p:txBody>
          <a:bodyPr/>
          <a:lstStyle/>
          <a:p>
            <a:fld id="{82294451-D2CF-48B1-B27E-981A2CEA083C}" type="slidenum">
              <a:rPr lang="en-IN" smtClean="0"/>
              <a:t>‹#›</a:t>
            </a:fld>
            <a:endParaRPr lang="en-IN"/>
          </a:p>
        </p:txBody>
      </p:sp>
    </p:spTree>
    <p:extLst>
      <p:ext uri="{BB962C8B-B14F-4D97-AF65-F5344CB8AC3E}">
        <p14:creationId xmlns:p14="http://schemas.microsoft.com/office/powerpoint/2010/main" val="3886791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80CE2C-2552-E949-D8D7-CC82EDC3603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755835D-1AA2-B226-9EFE-D41FDE315E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0E30828-E0F7-54C8-9A32-8770D3160DF0}"/>
              </a:ext>
            </a:extLst>
          </p:cNvPr>
          <p:cNvSpPr>
            <a:spLocks noGrp="1"/>
          </p:cNvSpPr>
          <p:nvPr>
            <p:ph type="dt" sz="half" idx="10"/>
          </p:nvPr>
        </p:nvSpPr>
        <p:spPr/>
        <p:txBody>
          <a:bodyPr/>
          <a:lstStyle/>
          <a:p>
            <a:fld id="{363CA53E-B5FE-4760-8EDE-A27B8E9A1AB4}" type="datetimeFigureOut">
              <a:rPr lang="en-IN" smtClean="0"/>
              <a:t>10-07-2026</a:t>
            </a:fld>
            <a:endParaRPr lang="en-IN"/>
          </a:p>
        </p:txBody>
      </p:sp>
      <p:sp>
        <p:nvSpPr>
          <p:cNvPr id="5" name="Footer Placeholder 4">
            <a:extLst>
              <a:ext uri="{FF2B5EF4-FFF2-40B4-BE49-F238E27FC236}">
                <a16:creationId xmlns:a16="http://schemas.microsoft.com/office/drawing/2014/main" id="{CEF3E5D9-A6EF-AD41-35CD-E9FFEF51AB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11F26E-688C-B1F8-4E92-B8FCD136DC62}"/>
              </a:ext>
            </a:extLst>
          </p:cNvPr>
          <p:cNvSpPr>
            <a:spLocks noGrp="1"/>
          </p:cNvSpPr>
          <p:nvPr>
            <p:ph type="sldNum" sz="quarter" idx="12"/>
          </p:nvPr>
        </p:nvSpPr>
        <p:spPr/>
        <p:txBody>
          <a:bodyPr/>
          <a:lstStyle/>
          <a:p>
            <a:fld id="{82294451-D2CF-48B1-B27E-981A2CEA083C}" type="slidenum">
              <a:rPr lang="en-IN" smtClean="0"/>
              <a:t>‹#›</a:t>
            </a:fld>
            <a:endParaRPr lang="en-IN"/>
          </a:p>
        </p:txBody>
      </p:sp>
    </p:spTree>
    <p:extLst>
      <p:ext uri="{BB962C8B-B14F-4D97-AF65-F5344CB8AC3E}">
        <p14:creationId xmlns:p14="http://schemas.microsoft.com/office/powerpoint/2010/main" val="3147861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A393AF-72FF-C43A-B1E9-7CD7B6E6F1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93E892F-6D30-DCB5-ACB5-9FCF6877C0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132F82-0C50-14C9-3A21-6E4BA14CC0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3CA53E-B5FE-4760-8EDE-A27B8E9A1AB4}" type="datetimeFigureOut">
              <a:rPr lang="en-IN" smtClean="0"/>
              <a:t>10-07-2026</a:t>
            </a:fld>
            <a:endParaRPr lang="en-IN"/>
          </a:p>
        </p:txBody>
      </p:sp>
      <p:sp>
        <p:nvSpPr>
          <p:cNvPr id="5" name="Footer Placeholder 4">
            <a:extLst>
              <a:ext uri="{FF2B5EF4-FFF2-40B4-BE49-F238E27FC236}">
                <a16:creationId xmlns:a16="http://schemas.microsoft.com/office/drawing/2014/main" id="{60DD7B23-8CA8-B60B-C138-E837E9075A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7BD75E0-AD49-9FC4-A52A-3EBE9B57A8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2294451-D2CF-48B1-B27E-981A2CEA083C}" type="slidenum">
              <a:rPr lang="en-IN" smtClean="0"/>
              <a:t>‹#›</a:t>
            </a:fld>
            <a:endParaRPr lang="en-IN"/>
          </a:p>
        </p:txBody>
      </p:sp>
    </p:spTree>
    <p:extLst>
      <p:ext uri="{BB962C8B-B14F-4D97-AF65-F5344CB8AC3E}">
        <p14:creationId xmlns:p14="http://schemas.microsoft.com/office/powerpoint/2010/main" val="30992716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hyperlink" Target="mailto:cncelestials@gmail.com" TargetMode="Externa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9049A54-E642-D1E3-DE5B-BD322A8B2216}"/>
              </a:ext>
            </a:extLst>
          </p:cNvPr>
          <p:cNvSpPr txBox="1"/>
          <p:nvPr/>
        </p:nvSpPr>
        <p:spPr>
          <a:xfrm>
            <a:off x="776377" y="1000664"/>
            <a:ext cx="10765766" cy="3108543"/>
          </a:xfrm>
          <a:prstGeom prst="rect">
            <a:avLst/>
          </a:prstGeom>
          <a:noFill/>
        </p:spPr>
        <p:txBody>
          <a:bodyPr wrap="square" rtlCol="0">
            <a:spAutoFit/>
          </a:bodyPr>
          <a:lstStyle/>
          <a:p>
            <a:r>
              <a:rPr lang="en-US" sz="1400" dirty="0"/>
              <a:t>Your Journey Towards Clarity, Success &amp; Prosperity Begins Here</a:t>
            </a:r>
          </a:p>
          <a:p>
            <a:endParaRPr lang="en-US" sz="1400" dirty="0"/>
          </a:p>
          <a:p>
            <a:r>
              <a:rPr lang="en-US" sz="1400" dirty="0"/>
              <a:t>Every life has a unique blueprint. Through the timeless wisdom of Astrology, Numerology, Vastu Shastra and other sacred sciences, Meenakshii helps individuals and businesses gain deeper clarity, overcome obstacles and align their journey with purpose, abundance, and lasting prosperity.</a:t>
            </a:r>
          </a:p>
          <a:p>
            <a:endParaRPr lang="en-US" sz="1400" dirty="0"/>
          </a:p>
          <a:p>
            <a:r>
              <a:rPr lang="en-US" sz="1400" dirty="0"/>
              <a:t>Whether you seek guidance for your career, relationships, business, finances or personal growth, every consultation is thoughtfully tailored to your unique circumstances, empowering you to make informed decisions with confidence and peace of mind.</a:t>
            </a:r>
          </a:p>
          <a:p>
            <a:endParaRPr lang="en-US" sz="1400" dirty="0"/>
          </a:p>
          <a:p>
            <a:r>
              <a:rPr lang="en-US" sz="1400" dirty="0"/>
              <a:t>✓ 5+ Years of Professional Experience</a:t>
            </a:r>
          </a:p>
          <a:p>
            <a:endParaRPr lang="en-US" sz="1400" dirty="0"/>
          </a:p>
          <a:p>
            <a:r>
              <a:rPr lang="en-US" sz="1400" dirty="0"/>
              <a:t>✓ 300+ Individuals &amp; Businesses Guided</a:t>
            </a:r>
          </a:p>
          <a:p>
            <a:endParaRPr lang="en-US" sz="1400" dirty="0"/>
          </a:p>
          <a:p>
            <a:r>
              <a:rPr lang="en-US" sz="1400" dirty="0"/>
              <a:t>✓ Personalized, Confidential &amp; Ethical Consultations</a:t>
            </a:r>
            <a:endParaRPr lang="en-IN" sz="1400" dirty="0"/>
          </a:p>
        </p:txBody>
      </p:sp>
      <p:sp>
        <p:nvSpPr>
          <p:cNvPr id="5" name="Rectangle: Rounded Corners 4">
            <a:extLst>
              <a:ext uri="{FF2B5EF4-FFF2-40B4-BE49-F238E27FC236}">
                <a16:creationId xmlns:a16="http://schemas.microsoft.com/office/drawing/2014/main" id="{8E117756-71D2-7FAF-A205-2B78A1782A98}"/>
              </a:ext>
            </a:extLst>
          </p:cNvPr>
          <p:cNvSpPr/>
          <p:nvPr/>
        </p:nvSpPr>
        <p:spPr>
          <a:xfrm>
            <a:off x="1874808" y="5195977"/>
            <a:ext cx="3404558" cy="511834"/>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Book a Private Consultation</a:t>
            </a:r>
            <a:endParaRPr lang="en-IN" dirty="0"/>
          </a:p>
        </p:txBody>
      </p:sp>
      <p:sp>
        <p:nvSpPr>
          <p:cNvPr id="7" name="Rectangle: Rounded Corners 6">
            <a:extLst>
              <a:ext uri="{FF2B5EF4-FFF2-40B4-BE49-F238E27FC236}">
                <a16:creationId xmlns:a16="http://schemas.microsoft.com/office/drawing/2014/main" id="{B2811D0B-BA53-D449-4B44-37553ED309E7}"/>
              </a:ext>
            </a:extLst>
          </p:cNvPr>
          <p:cNvSpPr/>
          <p:nvPr/>
        </p:nvSpPr>
        <p:spPr>
          <a:xfrm>
            <a:off x="6725728" y="5195977"/>
            <a:ext cx="3404558" cy="511834"/>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Explore Services</a:t>
            </a:r>
            <a:endParaRPr lang="en-IN" dirty="0"/>
          </a:p>
        </p:txBody>
      </p:sp>
      <p:sp>
        <p:nvSpPr>
          <p:cNvPr id="8" name="TextBox 7">
            <a:extLst>
              <a:ext uri="{FF2B5EF4-FFF2-40B4-BE49-F238E27FC236}">
                <a16:creationId xmlns:a16="http://schemas.microsoft.com/office/drawing/2014/main" id="{DD41D36B-87D5-8FB9-DB4C-8455E1651344}"/>
              </a:ext>
            </a:extLst>
          </p:cNvPr>
          <p:cNvSpPr txBox="1"/>
          <p:nvPr/>
        </p:nvSpPr>
        <p:spPr>
          <a:xfrm>
            <a:off x="793629" y="230038"/>
            <a:ext cx="5055080" cy="584775"/>
          </a:xfrm>
          <a:prstGeom prst="rect">
            <a:avLst/>
          </a:prstGeom>
          <a:noFill/>
        </p:spPr>
        <p:txBody>
          <a:bodyPr wrap="square" rtlCol="0">
            <a:spAutoFit/>
          </a:bodyPr>
          <a:lstStyle/>
          <a:p>
            <a:r>
              <a:rPr lang="en-US" sz="3200" b="1" dirty="0"/>
              <a:t>Hero Section</a:t>
            </a:r>
            <a:endParaRPr lang="en-IN" b="1" dirty="0"/>
          </a:p>
        </p:txBody>
      </p:sp>
    </p:spTree>
    <p:extLst>
      <p:ext uri="{BB962C8B-B14F-4D97-AF65-F5344CB8AC3E}">
        <p14:creationId xmlns:p14="http://schemas.microsoft.com/office/powerpoint/2010/main" val="581941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B4B96-7EA4-B44D-D33D-4CD0515F6F2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F193E76-91A9-DA68-F32B-6FDC1998FD35}"/>
              </a:ext>
            </a:extLst>
          </p:cNvPr>
          <p:cNvSpPr txBox="1"/>
          <p:nvPr/>
        </p:nvSpPr>
        <p:spPr>
          <a:xfrm>
            <a:off x="776377" y="1000664"/>
            <a:ext cx="10765766" cy="4832092"/>
          </a:xfrm>
          <a:prstGeom prst="rect">
            <a:avLst/>
          </a:prstGeom>
          <a:noFill/>
        </p:spPr>
        <p:txBody>
          <a:bodyPr wrap="square" rtlCol="0">
            <a:spAutoFit/>
          </a:bodyPr>
          <a:lstStyle/>
          <a:p>
            <a:r>
              <a:rPr lang="en-US" sz="1400" b="1" dirty="0"/>
              <a:t>Occult Sciences Expert • Spiritual Consultant • Destiny Strategist</a:t>
            </a:r>
          </a:p>
          <a:p>
            <a:endParaRPr lang="en-US" sz="1400" dirty="0"/>
          </a:p>
          <a:p>
            <a:r>
              <a:rPr lang="en-US" sz="1400" b="1" dirty="0"/>
              <a:t>”Where Ancient Wisdom Meets Modern Success.”</a:t>
            </a:r>
          </a:p>
          <a:p>
            <a:endParaRPr lang="en-US" sz="1400" dirty="0"/>
          </a:p>
          <a:p>
            <a:pPr algn="just"/>
            <a:r>
              <a:rPr lang="en-US" sz="1400" dirty="0"/>
              <a:t>Meenakshii is a distinguished Spiritual Consultant and practitioner of the sacred occult sciences, helping individuals, entrepreneurs and businesses align their lives with clarity, success and prosperity. With over 5 years of professional experience and the trust of 300+ clients, she is recognized for her intuitive insight, precise analysis and holistic approach to destiny alignment. Her consultations extend beyond predictions, offering practical guidance, strategic direction and simple yet personalized remedies tailored to each client’s unique journey. </a:t>
            </a:r>
          </a:p>
          <a:p>
            <a:endParaRPr lang="en-US" sz="1400" dirty="0"/>
          </a:p>
          <a:p>
            <a:r>
              <a:rPr lang="en-US" sz="1400" dirty="0"/>
              <a:t>Meenakshii possesses extensive expertise in Vedic Jyotish, Dasha Jyotish, Bhrigu Nandi Nadi and Krishnamurthi </a:t>
            </a:r>
            <a:r>
              <a:rPr lang="en-US" sz="1400" dirty="0" err="1"/>
              <a:t>Paddhati</a:t>
            </a:r>
            <a:r>
              <a:rPr lang="en-US" sz="1400" dirty="0"/>
              <a:t> (KP Astrology), complemented by a wide range of metaphysical disciplines.</a:t>
            </a:r>
          </a:p>
          <a:p>
            <a:endParaRPr lang="en-US" sz="1400" dirty="0"/>
          </a:p>
          <a:p>
            <a:r>
              <a:rPr lang="en-US" sz="1400" b="1" dirty="0"/>
              <a:t>Areas of Expertise</a:t>
            </a:r>
          </a:p>
          <a:p>
            <a:pPr marL="285750" indent="-285750">
              <a:buFont typeface="Arial" panose="020B0604020202020204" pitchFamily="34" charset="0"/>
              <a:buChar char="•"/>
            </a:pPr>
            <a:r>
              <a:rPr lang="en-US" sz="1400" dirty="0"/>
              <a:t>Astrology</a:t>
            </a:r>
          </a:p>
          <a:p>
            <a:pPr marL="285750" indent="-285750">
              <a:buFont typeface="Arial" panose="020B0604020202020204" pitchFamily="34" charset="0"/>
              <a:buChar char="•"/>
            </a:pPr>
            <a:r>
              <a:rPr lang="en-US" sz="1400" dirty="0"/>
              <a:t>Numerology</a:t>
            </a:r>
          </a:p>
          <a:p>
            <a:pPr marL="285750" indent="-285750">
              <a:buFont typeface="Arial" panose="020B0604020202020204" pitchFamily="34" charset="0"/>
              <a:buChar char="•"/>
            </a:pPr>
            <a:r>
              <a:rPr lang="en-US" sz="1400" dirty="0"/>
              <a:t>Vastu Shastra</a:t>
            </a:r>
          </a:p>
          <a:p>
            <a:pPr marL="285750" indent="-285750">
              <a:buFont typeface="Arial" panose="020B0604020202020204" pitchFamily="34" charset="0"/>
              <a:buChar char="•"/>
            </a:pPr>
            <a:r>
              <a:rPr lang="en-US" sz="1400" dirty="0"/>
              <a:t>Rune Card Reading</a:t>
            </a:r>
          </a:p>
          <a:p>
            <a:pPr marL="285750" indent="-285750">
              <a:buFont typeface="Arial" panose="020B0604020202020204" pitchFamily="34" charset="0"/>
              <a:buChar char="•"/>
            </a:pPr>
            <a:r>
              <a:rPr lang="en-US" sz="1400" dirty="0"/>
              <a:t>Karma Alignment</a:t>
            </a:r>
          </a:p>
          <a:p>
            <a:pPr marL="285750" indent="-285750">
              <a:buFont typeface="Arial" panose="020B0604020202020204" pitchFamily="34" charset="0"/>
              <a:buChar char="•"/>
            </a:pPr>
            <a:r>
              <a:rPr lang="en-US" sz="1400" dirty="0"/>
              <a:t>Swar Vigyan</a:t>
            </a:r>
          </a:p>
          <a:p>
            <a:pPr marL="285750" indent="-285750">
              <a:buFont typeface="Arial" panose="020B0604020202020204" pitchFamily="34" charset="0"/>
              <a:buChar char="•"/>
            </a:pPr>
            <a:r>
              <a:rPr lang="en-US" sz="1400" dirty="0"/>
              <a:t>Graphology</a:t>
            </a:r>
          </a:p>
          <a:p>
            <a:pPr marL="285750" indent="-285750">
              <a:buFont typeface="Arial" panose="020B0604020202020204" pitchFamily="34" charset="0"/>
              <a:buChar char="•"/>
            </a:pPr>
            <a:r>
              <a:rPr lang="en-US" sz="1400" dirty="0"/>
              <a:t>Spiritual Remedies &amp; Counselling</a:t>
            </a:r>
          </a:p>
          <a:p>
            <a:pPr marL="285750" indent="-285750">
              <a:buFont typeface="Arial" panose="020B0604020202020204" pitchFamily="34" charset="0"/>
              <a:buChar char="•"/>
            </a:pPr>
            <a:r>
              <a:rPr lang="en-US" sz="1400" dirty="0"/>
              <a:t>Advanced Occult Sciences</a:t>
            </a:r>
            <a:endParaRPr lang="en-IN" sz="1400" dirty="0"/>
          </a:p>
        </p:txBody>
      </p:sp>
      <p:sp>
        <p:nvSpPr>
          <p:cNvPr id="8" name="TextBox 7">
            <a:extLst>
              <a:ext uri="{FF2B5EF4-FFF2-40B4-BE49-F238E27FC236}">
                <a16:creationId xmlns:a16="http://schemas.microsoft.com/office/drawing/2014/main" id="{CFCB8E89-8785-AFAC-76B5-0B34F150C52C}"/>
              </a:ext>
            </a:extLst>
          </p:cNvPr>
          <p:cNvSpPr txBox="1"/>
          <p:nvPr/>
        </p:nvSpPr>
        <p:spPr>
          <a:xfrm>
            <a:off x="793629" y="230038"/>
            <a:ext cx="5055080" cy="584775"/>
          </a:xfrm>
          <a:prstGeom prst="rect">
            <a:avLst/>
          </a:prstGeom>
          <a:noFill/>
        </p:spPr>
        <p:txBody>
          <a:bodyPr wrap="square" rtlCol="0">
            <a:spAutoFit/>
          </a:bodyPr>
          <a:lstStyle/>
          <a:p>
            <a:r>
              <a:rPr lang="en-US" sz="3200" b="1" dirty="0"/>
              <a:t>Meet Meenakshii</a:t>
            </a:r>
            <a:endParaRPr lang="en-IN" b="1" dirty="0"/>
          </a:p>
        </p:txBody>
      </p:sp>
      <p:sp>
        <p:nvSpPr>
          <p:cNvPr id="3" name="TextBox 2">
            <a:extLst>
              <a:ext uri="{FF2B5EF4-FFF2-40B4-BE49-F238E27FC236}">
                <a16:creationId xmlns:a16="http://schemas.microsoft.com/office/drawing/2014/main" id="{D61A0134-35C4-A312-221D-71490364B777}"/>
              </a:ext>
            </a:extLst>
          </p:cNvPr>
          <p:cNvSpPr txBox="1"/>
          <p:nvPr/>
        </p:nvSpPr>
        <p:spPr>
          <a:xfrm>
            <a:off x="4882551" y="4118356"/>
            <a:ext cx="6533072" cy="160043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400" dirty="0"/>
              <a:t>Whether guiding clients in career, business, wealth, relationships or personal growth, Meenakshii combines ancient wisdom with practical insight to help them make confident decisions and navigate life’s opportunities with greater clarity. </a:t>
            </a:r>
          </a:p>
          <a:p>
            <a:pPr algn="ctr"/>
            <a:endParaRPr lang="en-US" sz="1400" dirty="0"/>
          </a:p>
          <a:p>
            <a:pPr algn="ctr"/>
            <a:r>
              <a:rPr lang="en-US" sz="1400" dirty="0" err="1"/>
              <a:t>Meenakshii’s</a:t>
            </a:r>
            <a:r>
              <a:rPr lang="en-US" sz="1400" dirty="0"/>
              <a:t> philosophy is simple: Destiny reveals the path, but conscious alignment creates extraordinary outcomes. </a:t>
            </a:r>
          </a:p>
          <a:p>
            <a:pPr algn="ctr"/>
            <a:r>
              <a:rPr lang="en-US" sz="1400" dirty="0"/>
              <a:t>”True guidance does not merely predict the future - it empowers you to shape it”</a:t>
            </a:r>
            <a:endParaRPr lang="en-IN" sz="1400" dirty="0"/>
          </a:p>
        </p:txBody>
      </p:sp>
    </p:spTree>
    <p:extLst>
      <p:ext uri="{BB962C8B-B14F-4D97-AF65-F5344CB8AC3E}">
        <p14:creationId xmlns:p14="http://schemas.microsoft.com/office/powerpoint/2010/main" val="42923058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D0285-8021-7006-69F6-9E5E37D2FBD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40BEBC9-BDD5-8718-7E7A-185A99392708}"/>
              </a:ext>
            </a:extLst>
          </p:cNvPr>
          <p:cNvSpPr txBox="1"/>
          <p:nvPr/>
        </p:nvSpPr>
        <p:spPr>
          <a:xfrm>
            <a:off x="776377" y="1000664"/>
            <a:ext cx="10765766" cy="5047536"/>
          </a:xfrm>
          <a:prstGeom prst="rect">
            <a:avLst/>
          </a:prstGeom>
          <a:noFill/>
        </p:spPr>
        <p:txBody>
          <a:bodyPr wrap="square" rtlCol="0">
            <a:spAutoFit/>
          </a:bodyPr>
          <a:lstStyle/>
          <a:p>
            <a:r>
              <a:rPr lang="en-US" sz="1400" dirty="0"/>
              <a:t>Choosing the right spiritual guide is a deeply personal decision. </a:t>
            </a:r>
            <a:r>
              <a:rPr lang="en-US" sz="1400" dirty="0" err="1"/>
              <a:t>Meenakshii’s</a:t>
            </a:r>
            <a:r>
              <a:rPr lang="en-US" sz="1400" dirty="0"/>
              <a:t> approach is rooted in authenticity, compassion and a commitment to providing thoughtful guidance tailored to every individual’s unique journey.</a:t>
            </a:r>
          </a:p>
          <a:p>
            <a:endParaRPr lang="en-US" sz="1400" dirty="0"/>
          </a:p>
          <a:p>
            <a:r>
              <a:rPr lang="en-US" sz="1400" b="1" dirty="0"/>
              <a:t>Authentic Multi-Disciplinary Expertise </a:t>
            </a:r>
            <a:r>
              <a:rPr lang="en-US" sz="1400" dirty="0"/>
              <a:t>- Drawing upon Astrology, Numerology, Vastu Shastra, Rune Card Reading, Karma Alignment, Swar Vigyan, Graphology, and other sacred sciences, Meenakshii offers a holistic perspective rather than relying on a single methodology.</a:t>
            </a:r>
          </a:p>
          <a:p>
            <a:endParaRPr lang="en-US" sz="1400" dirty="0"/>
          </a:p>
          <a:p>
            <a:r>
              <a:rPr lang="en-US" sz="1400" b="1" dirty="0"/>
              <a:t>Personalized Guidance </a:t>
            </a:r>
            <a:r>
              <a:rPr lang="en-US" sz="1400" dirty="0"/>
              <a:t>- No two lives are alike. Every consultation is carefully tailored to your birth details, circumstances, aspirations and challenges, ensuring meaningful and relevant guidance. </a:t>
            </a:r>
          </a:p>
          <a:p>
            <a:endParaRPr lang="en-US" sz="1400" dirty="0"/>
          </a:p>
          <a:p>
            <a:r>
              <a:rPr lang="en-US" sz="1400" b="1" dirty="0"/>
              <a:t>Ancient Wisdom, Practical Direction </a:t>
            </a:r>
            <a:r>
              <a:rPr lang="en-US" sz="1400" dirty="0"/>
              <a:t>- Traditional spiritual knowledge is presented in a practical, easy-to-understand manner, helping you make informed decisions in your personal, professional, and business life.</a:t>
            </a:r>
          </a:p>
          <a:p>
            <a:endParaRPr lang="en-US" sz="1400" dirty="0"/>
          </a:p>
          <a:p>
            <a:r>
              <a:rPr lang="en-US" sz="1400" b="1" dirty="0"/>
              <a:t>Ethical &amp; Confidential Consultations </a:t>
            </a:r>
            <a:r>
              <a:rPr lang="en-US" sz="1400" dirty="0"/>
              <a:t>- Every consultation is conducted with complete confidentiality, respect, and integrity, providing a safe and trusted space for open discussion.</a:t>
            </a:r>
          </a:p>
          <a:p>
            <a:endParaRPr lang="en-US" sz="1400" dirty="0"/>
          </a:p>
          <a:p>
            <a:r>
              <a:rPr lang="en-US" sz="1400" b="1" dirty="0"/>
              <a:t>Personalized Remedies </a:t>
            </a:r>
            <a:r>
              <a:rPr lang="en-US" sz="1400" dirty="0"/>
              <a:t>- Recommendations are thoughtfully designed to complement your unique circumstances and support your personal growth and well-being.</a:t>
            </a:r>
          </a:p>
          <a:p>
            <a:endParaRPr lang="en-US" sz="1400" dirty="0"/>
          </a:p>
          <a:p>
            <a:r>
              <a:rPr lang="en-US" sz="1400" b="1" dirty="0"/>
              <a:t>Trusted by 300+ Clients</a:t>
            </a:r>
            <a:r>
              <a:rPr lang="en-US" sz="1400" dirty="0"/>
              <a:t> - Individuals, families, entrepreneurs, and business owners have sought </a:t>
            </a:r>
            <a:r>
              <a:rPr lang="en-US" sz="1400" dirty="0" err="1"/>
              <a:t>Meenakshii’s</a:t>
            </a:r>
            <a:r>
              <a:rPr lang="en-US" sz="1400" dirty="0"/>
              <a:t> guidance to gain clarity, navigate challenges, and move forward with greater confidence.</a:t>
            </a:r>
          </a:p>
          <a:p>
            <a:endParaRPr lang="en-US" sz="1400" dirty="0"/>
          </a:p>
          <a:p>
            <a:r>
              <a:rPr lang="en-US" sz="1400" b="1" dirty="0"/>
              <a:t>A Commitment to Your Growth </a:t>
            </a:r>
            <a:r>
              <a:rPr lang="en-US" sz="1400" dirty="0"/>
              <a:t>- The objective is not merely to interpret possibilities but to empower you with clarity, confidence, and actionable guidance for a balanced and fulfilling life.</a:t>
            </a:r>
            <a:endParaRPr lang="en-IN" sz="1400" dirty="0"/>
          </a:p>
        </p:txBody>
      </p:sp>
      <p:sp>
        <p:nvSpPr>
          <p:cNvPr id="8" name="TextBox 7">
            <a:extLst>
              <a:ext uri="{FF2B5EF4-FFF2-40B4-BE49-F238E27FC236}">
                <a16:creationId xmlns:a16="http://schemas.microsoft.com/office/drawing/2014/main" id="{A4293B43-C925-AA06-24AD-640EA90A7816}"/>
              </a:ext>
            </a:extLst>
          </p:cNvPr>
          <p:cNvSpPr txBox="1"/>
          <p:nvPr/>
        </p:nvSpPr>
        <p:spPr>
          <a:xfrm>
            <a:off x="793628" y="230038"/>
            <a:ext cx="9569571" cy="584775"/>
          </a:xfrm>
          <a:prstGeom prst="rect">
            <a:avLst/>
          </a:prstGeom>
          <a:noFill/>
        </p:spPr>
        <p:txBody>
          <a:bodyPr wrap="square" rtlCol="0">
            <a:spAutoFit/>
          </a:bodyPr>
          <a:lstStyle/>
          <a:p>
            <a:r>
              <a:rPr lang="en-US" sz="3200" b="1" dirty="0"/>
              <a:t>Why chose Meenakshii</a:t>
            </a:r>
            <a:endParaRPr lang="en-IN" b="1" dirty="0"/>
          </a:p>
        </p:txBody>
      </p:sp>
    </p:spTree>
    <p:extLst>
      <p:ext uri="{BB962C8B-B14F-4D97-AF65-F5344CB8AC3E}">
        <p14:creationId xmlns:p14="http://schemas.microsoft.com/office/powerpoint/2010/main" val="3982871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56699-DE34-64E5-419B-418C49027F6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D2048B3-6773-D0DD-EB44-02E528C25B5F}"/>
              </a:ext>
            </a:extLst>
          </p:cNvPr>
          <p:cNvSpPr txBox="1"/>
          <p:nvPr/>
        </p:nvSpPr>
        <p:spPr>
          <a:xfrm>
            <a:off x="776377" y="1000664"/>
            <a:ext cx="10765766" cy="738664"/>
          </a:xfrm>
          <a:prstGeom prst="rect">
            <a:avLst/>
          </a:prstGeom>
          <a:noFill/>
        </p:spPr>
        <p:txBody>
          <a:bodyPr wrap="square" rtlCol="0">
            <a:spAutoFit/>
          </a:bodyPr>
          <a:lstStyle/>
          <a:p>
            <a:r>
              <a:rPr lang="en-US" sz="1400" dirty="0"/>
              <a:t>Astrology is a sacred science that reveals the unique blueprint of your life. By analyzing planetary positions and karmic influences, Meenakshii provides deep insights into opportunities, challenges, and the right timing for important decisions. Every consultation is personalized to help you achieve clarity, confidence, and long-term success.</a:t>
            </a:r>
            <a:endParaRPr lang="en-IN" sz="1400" dirty="0"/>
          </a:p>
        </p:txBody>
      </p:sp>
      <p:sp>
        <p:nvSpPr>
          <p:cNvPr id="8" name="TextBox 7">
            <a:extLst>
              <a:ext uri="{FF2B5EF4-FFF2-40B4-BE49-F238E27FC236}">
                <a16:creationId xmlns:a16="http://schemas.microsoft.com/office/drawing/2014/main" id="{D989F2FF-B4BE-53C9-1F1B-421794A710A4}"/>
              </a:ext>
            </a:extLst>
          </p:cNvPr>
          <p:cNvSpPr txBox="1"/>
          <p:nvPr/>
        </p:nvSpPr>
        <p:spPr>
          <a:xfrm>
            <a:off x="793628" y="230038"/>
            <a:ext cx="9569571" cy="584775"/>
          </a:xfrm>
          <a:prstGeom prst="rect">
            <a:avLst/>
          </a:prstGeom>
          <a:noFill/>
        </p:spPr>
        <p:txBody>
          <a:bodyPr wrap="square" rtlCol="0">
            <a:spAutoFit/>
          </a:bodyPr>
          <a:lstStyle/>
          <a:p>
            <a:r>
              <a:rPr lang="en-US" sz="3200" b="1" dirty="0"/>
              <a:t>Astrology Services</a:t>
            </a:r>
            <a:endParaRPr lang="en-IN" b="1" dirty="0"/>
          </a:p>
        </p:txBody>
      </p:sp>
      <p:sp>
        <p:nvSpPr>
          <p:cNvPr id="3" name="TextBox 2">
            <a:extLst>
              <a:ext uri="{FF2B5EF4-FFF2-40B4-BE49-F238E27FC236}">
                <a16:creationId xmlns:a16="http://schemas.microsoft.com/office/drawing/2014/main" id="{F1F7E762-FF92-B9F5-59D6-8C87AD7C7AE3}"/>
              </a:ext>
            </a:extLst>
          </p:cNvPr>
          <p:cNvSpPr txBox="1"/>
          <p:nvPr/>
        </p:nvSpPr>
        <p:spPr>
          <a:xfrm>
            <a:off x="776377" y="1925179"/>
            <a:ext cx="6096000" cy="3754874"/>
          </a:xfrm>
          <a:prstGeom prst="rect">
            <a:avLst/>
          </a:prstGeom>
          <a:noFill/>
        </p:spPr>
        <p:txBody>
          <a:bodyPr wrap="square">
            <a:spAutoFit/>
          </a:bodyPr>
          <a:lstStyle/>
          <a:p>
            <a:r>
              <a:rPr lang="en-US" sz="1400" dirty="0"/>
              <a:t>Services</a:t>
            </a:r>
          </a:p>
          <a:p>
            <a:endParaRPr lang="en-US" sz="1400" dirty="0"/>
          </a:p>
          <a:p>
            <a:pPr marL="285750" indent="-285750">
              <a:buFont typeface="Arial" panose="020B0604020202020204" pitchFamily="34" charset="0"/>
              <a:buChar char="•"/>
            </a:pPr>
            <a:r>
              <a:rPr lang="en-US" sz="1400" dirty="0"/>
              <a:t>Birth Chart (</a:t>
            </a:r>
            <a:r>
              <a:rPr lang="en-US" sz="1400" dirty="0" err="1"/>
              <a:t>Kundli</a:t>
            </a:r>
            <a:r>
              <a:rPr lang="en-US" sz="1400" dirty="0"/>
              <a:t>) Analysis</a:t>
            </a:r>
          </a:p>
          <a:p>
            <a:pPr marL="285750" indent="-285750">
              <a:buFont typeface="Arial" panose="020B0604020202020204" pitchFamily="34" charset="0"/>
              <a:buChar char="•"/>
            </a:pPr>
            <a:r>
              <a:rPr lang="en-US" sz="1400" dirty="0"/>
              <a:t>Career &amp; Professional Guidance</a:t>
            </a:r>
          </a:p>
          <a:p>
            <a:pPr marL="285750" indent="-285750">
              <a:buFont typeface="Arial" panose="020B0604020202020204" pitchFamily="34" charset="0"/>
              <a:buChar char="•"/>
            </a:pPr>
            <a:r>
              <a:rPr lang="en-US" sz="1400" dirty="0"/>
              <a:t>Business Astrology</a:t>
            </a:r>
          </a:p>
          <a:p>
            <a:pPr marL="285750" indent="-285750">
              <a:buFont typeface="Arial" panose="020B0604020202020204" pitchFamily="34" charset="0"/>
              <a:buChar char="•"/>
            </a:pPr>
            <a:r>
              <a:rPr lang="en-US" sz="1400" dirty="0"/>
              <a:t>Marriage &amp; Relationship Compatibility</a:t>
            </a:r>
          </a:p>
          <a:p>
            <a:pPr marL="285750" indent="-285750">
              <a:buFont typeface="Arial" panose="020B0604020202020204" pitchFamily="34" charset="0"/>
              <a:buChar char="•"/>
            </a:pPr>
            <a:r>
              <a:rPr lang="en-US" sz="1400" dirty="0"/>
              <a:t>Love &amp; Relationship Consultation</a:t>
            </a:r>
          </a:p>
          <a:p>
            <a:pPr marL="285750" indent="-285750">
              <a:buFont typeface="Arial" panose="020B0604020202020204" pitchFamily="34" charset="0"/>
              <a:buChar char="•"/>
            </a:pPr>
            <a:r>
              <a:rPr lang="en-US" sz="1400" dirty="0"/>
              <a:t>Health &amp; Wellness Astrology</a:t>
            </a:r>
          </a:p>
          <a:p>
            <a:pPr marL="285750" indent="-285750">
              <a:buFont typeface="Arial" panose="020B0604020202020204" pitchFamily="34" charset="0"/>
              <a:buChar char="•"/>
            </a:pPr>
            <a:r>
              <a:rPr lang="en-US" sz="1400" dirty="0"/>
              <a:t>Finance &amp; Wealth Analysis</a:t>
            </a:r>
          </a:p>
          <a:p>
            <a:pPr marL="285750" indent="-285750">
              <a:buFont typeface="Arial" panose="020B0604020202020204" pitchFamily="34" charset="0"/>
              <a:buChar char="•"/>
            </a:pPr>
            <a:r>
              <a:rPr lang="en-US" sz="1400" dirty="0"/>
              <a:t>Child &amp; Education Guidance</a:t>
            </a:r>
          </a:p>
          <a:p>
            <a:pPr marL="285750" indent="-285750">
              <a:buFont typeface="Arial" panose="020B0604020202020204" pitchFamily="34" charset="0"/>
              <a:buChar char="•"/>
            </a:pPr>
            <a:r>
              <a:rPr lang="en-US" sz="1400" dirty="0"/>
              <a:t>Property &amp; Real Estate Decisions</a:t>
            </a:r>
          </a:p>
          <a:p>
            <a:pPr marL="285750" indent="-285750">
              <a:buFont typeface="Arial" panose="020B0604020202020204" pitchFamily="34" charset="0"/>
              <a:buChar char="•"/>
            </a:pPr>
            <a:r>
              <a:rPr lang="en-US" sz="1400" dirty="0" err="1"/>
              <a:t>Muhurat</a:t>
            </a:r>
            <a:r>
              <a:rPr lang="en-US" sz="1400" dirty="0"/>
              <a:t> (Auspicious Timing)</a:t>
            </a:r>
          </a:p>
          <a:p>
            <a:pPr marL="285750" indent="-285750">
              <a:buFont typeface="Arial" panose="020B0604020202020204" pitchFamily="34" charset="0"/>
              <a:buChar char="•"/>
            </a:pPr>
            <a:r>
              <a:rPr lang="en-US" sz="1400" dirty="0"/>
              <a:t>Annual Horoscope</a:t>
            </a:r>
          </a:p>
          <a:p>
            <a:pPr marL="285750" indent="-285750">
              <a:buFont typeface="Arial" panose="020B0604020202020204" pitchFamily="34" charset="0"/>
              <a:buChar char="•"/>
            </a:pPr>
            <a:r>
              <a:rPr lang="en-US" sz="1400" dirty="0"/>
              <a:t>Dasha &amp; Transit Analysis</a:t>
            </a:r>
          </a:p>
          <a:p>
            <a:pPr marL="285750" indent="-285750">
              <a:buFont typeface="Arial" panose="020B0604020202020204" pitchFamily="34" charset="0"/>
              <a:buChar char="•"/>
            </a:pPr>
            <a:r>
              <a:rPr lang="en-US" sz="1400" dirty="0"/>
              <a:t>Foreign Settlement &amp; Travel</a:t>
            </a:r>
          </a:p>
          <a:p>
            <a:pPr marL="285750" indent="-285750">
              <a:buFont typeface="Arial" panose="020B0604020202020204" pitchFamily="34" charset="0"/>
              <a:buChar char="•"/>
            </a:pPr>
            <a:r>
              <a:rPr lang="en-US" sz="1400" dirty="0" err="1"/>
              <a:t>Prashna</a:t>
            </a:r>
            <a:r>
              <a:rPr lang="en-US" sz="1400" dirty="0"/>
              <a:t> (Horary Astrology)</a:t>
            </a:r>
          </a:p>
          <a:p>
            <a:pPr marL="285750" indent="-285750">
              <a:buFont typeface="Arial" panose="020B0604020202020204" pitchFamily="34" charset="0"/>
              <a:buChar char="•"/>
            </a:pPr>
            <a:r>
              <a:rPr lang="en-US" sz="1400" dirty="0"/>
              <a:t>Personalized Astrological Remedies</a:t>
            </a:r>
            <a:endParaRPr lang="en-IN" sz="1400" dirty="0"/>
          </a:p>
        </p:txBody>
      </p:sp>
    </p:spTree>
    <p:extLst>
      <p:ext uri="{BB962C8B-B14F-4D97-AF65-F5344CB8AC3E}">
        <p14:creationId xmlns:p14="http://schemas.microsoft.com/office/powerpoint/2010/main" val="3550756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E42EE-3AEF-8282-7EAF-1DB5B65A5A3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FA70FAF-6F9A-F25F-20D2-515B49E69455}"/>
              </a:ext>
            </a:extLst>
          </p:cNvPr>
          <p:cNvSpPr txBox="1"/>
          <p:nvPr/>
        </p:nvSpPr>
        <p:spPr>
          <a:xfrm>
            <a:off x="776377" y="1000664"/>
            <a:ext cx="10765766" cy="523220"/>
          </a:xfrm>
          <a:prstGeom prst="rect">
            <a:avLst/>
          </a:prstGeom>
          <a:noFill/>
        </p:spPr>
        <p:txBody>
          <a:bodyPr wrap="square" rtlCol="0">
            <a:spAutoFit/>
          </a:bodyPr>
          <a:lstStyle/>
          <a:p>
            <a:r>
              <a:rPr lang="en-US" sz="1400" dirty="0"/>
              <a:t>Numbers carry unique vibrations that influence every aspect of life. Through scientific numerological analysis, Meenakshii helps align your personal and professional identity with supportive energies that enhance success, relationships, finances, and overall well-being.</a:t>
            </a:r>
            <a:endParaRPr lang="en-IN" sz="1400" dirty="0"/>
          </a:p>
        </p:txBody>
      </p:sp>
      <p:sp>
        <p:nvSpPr>
          <p:cNvPr id="8" name="TextBox 7">
            <a:extLst>
              <a:ext uri="{FF2B5EF4-FFF2-40B4-BE49-F238E27FC236}">
                <a16:creationId xmlns:a16="http://schemas.microsoft.com/office/drawing/2014/main" id="{801F1A64-6F96-0052-A84F-EFFE9ADED8B1}"/>
              </a:ext>
            </a:extLst>
          </p:cNvPr>
          <p:cNvSpPr txBox="1"/>
          <p:nvPr/>
        </p:nvSpPr>
        <p:spPr>
          <a:xfrm>
            <a:off x="793628" y="230038"/>
            <a:ext cx="9569571" cy="584775"/>
          </a:xfrm>
          <a:prstGeom prst="rect">
            <a:avLst/>
          </a:prstGeom>
          <a:noFill/>
        </p:spPr>
        <p:txBody>
          <a:bodyPr wrap="square" rtlCol="0">
            <a:spAutoFit/>
          </a:bodyPr>
          <a:lstStyle/>
          <a:p>
            <a:r>
              <a:rPr lang="en-US" sz="3200" b="1" dirty="0"/>
              <a:t>Numerology Services</a:t>
            </a:r>
            <a:endParaRPr lang="en-IN" b="1" dirty="0"/>
          </a:p>
        </p:txBody>
      </p:sp>
      <p:sp>
        <p:nvSpPr>
          <p:cNvPr id="3" name="TextBox 2">
            <a:extLst>
              <a:ext uri="{FF2B5EF4-FFF2-40B4-BE49-F238E27FC236}">
                <a16:creationId xmlns:a16="http://schemas.microsoft.com/office/drawing/2014/main" id="{0A894EA6-6759-D6A8-93AF-DB8DCA133492}"/>
              </a:ext>
            </a:extLst>
          </p:cNvPr>
          <p:cNvSpPr txBox="1"/>
          <p:nvPr/>
        </p:nvSpPr>
        <p:spPr>
          <a:xfrm>
            <a:off x="793628" y="1775655"/>
            <a:ext cx="6096000" cy="2677656"/>
          </a:xfrm>
          <a:prstGeom prst="rect">
            <a:avLst/>
          </a:prstGeom>
          <a:noFill/>
        </p:spPr>
        <p:txBody>
          <a:bodyPr wrap="square">
            <a:spAutoFit/>
          </a:bodyPr>
          <a:lstStyle/>
          <a:p>
            <a:r>
              <a:rPr lang="en-US" sz="1400" dirty="0"/>
              <a:t>Services</a:t>
            </a:r>
          </a:p>
          <a:p>
            <a:endParaRPr lang="en-US" sz="1400" dirty="0"/>
          </a:p>
          <a:p>
            <a:pPr marL="285750" indent="-285750">
              <a:buFont typeface="Arial" panose="020B0604020202020204" pitchFamily="34" charset="0"/>
              <a:buChar char="•"/>
            </a:pPr>
            <a:r>
              <a:rPr lang="en-US" sz="1400" dirty="0"/>
              <a:t>Personal Numerology Reading</a:t>
            </a:r>
          </a:p>
          <a:p>
            <a:pPr marL="285750" indent="-285750">
              <a:buFont typeface="Arial" panose="020B0604020202020204" pitchFamily="34" charset="0"/>
              <a:buChar char="•"/>
            </a:pPr>
            <a:r>
              <a:rPr lang="en-US" sz="1400" dirty="0"/>
              <a:t>Mobile Number Selection</a:t>
            </a:r>
          </a:p>
          <a:p>
            <a:pPr marL="285750" indent="-285750">
              <a:buFont typeface="Arial" panose="020B0604020202020204" pitchFamily="34" charset="0"/>
              <a:buChar char="•"/>
            </a:pPr>
            <a:r>
              <a:rPr lang="en-US" sz="1400" dirty="0"/>
              <a:t>Business Name Numerology</a:t>
            </a:r>
          </a:p>
          <a:p>
            <a:pPr marL="285750" indent="-285750">
              <a:buFont typeface="Arial" panose="020B0604020202020204" pitchFamily="34" charset="0"/>
              <a:buChar char="•"/>
            </a:pPr>
            <a:r>
              <a:rPr lang="en-US" sz="1400" dirty="0"/>
              <a:t>Product &amp; Services Name Numerology</a:t>
            </a:r>
          </a:p>
          <a:p>
            <a:pPr marL="285750" indent="-285750">
              <a:buFont typeface="Arial" panose="020B0604020202020204" pitchFamily="34" charset="0"/>
              <a:buChar char="•"/>
            </a:pPr>
            <a:r>
              <a:rPr lang="en-US" sz="1400" dirty="0"/>
              <a:t>Baby Name Numerology</a:t>
            </a:r>
          </a:p>
          <a:p>
            <a:pPr marL="285750" indent="-285750">
              <a:buFont typeface="Arial" panose="020B0604020202020204" pitchFamily="34" charset="0"/>
              <a:buChar char="•"/>
            </a:pPr>
            <a:r>
              <a:rPr lang="en-US" sz="1400" dirty="0"/>
              <a:t>Lucky Dates &amp; Numbers</a:t>
            </a:r>
          </a:p>
          <a:p>
            <a:pPr marL="285750" indent="-285750">
              <a:buFont typeface="Arial" panose="020B0604020202020204" pitchFamily="34" charset="0"/>
              <a:buChar char="•"/>
            </a:pPr>
            <a:r>
              <a:rPr lang="en-US" sz="1400" dirty="0"/>
              <a:t>Vehicle Number Selection</a:t>
            </a:r>
          </a:p>
          <a:p>
            <a:pPr marL="285750" indent="-285750">
              <a:buFont typeface="Arial" panose="020B0604020202020204" pitchFamily="34" charset="0"/>
              <a:buChar char="•"/>
            </a:pPr>
            <a:r>
              <a:rPr lang="en-US" sz="1400" dirty="0"/>
              <a:t>House Number Analysis</a:t>
            </a:r>
          </a:p>
          <a:p>
            <a:pPr marL="285750" indent="-285750">
              <a:buFont typeface="Arial" panose="020B0604020202020204" pitchFamily="34" charset="0"/>
              <a:buChar char="•"/>
            </a:pPr>
            <a:r>
              <a:rPr lang="en-US" sz="1400" dirty="0"/>
              <a:t>Marriage Compatibility</a:t>
            </a:r>
          </a:p>
          <a:p>
            <a:pPr marL="285750" indent="-285750">
              <a:buFont typeface="Arial" panose="020B0604020202020204" pitchFamily="34" charset="0"/>
              <a:buChar char="•"/>
            </a:pPr>
            <a:r>
              <a:rPr lang="en-US" sz="1400" dirty="0"/>
              <a:t>Career Guidance through Numerology</a:t>
            </a:r>
            <a:endParaRPr lang="en-IN" sz="1400" dirty="0"/>
          </a:p>
        </p:txBody>
      </p:sp>
    </p:spTree>
    <p:extLst>
      <p:ext uri="{BB962C8B-B14F-4D97-AF65-F5344CB8AC3E}">
        <p14:creationId xmlns:p14="http://schemas.microsoft.com/office/powerpoint/2010/main" val="3644672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54EEF-B030-D39E-4D1F-722AA2D347E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36EEF4C-AD21-6985-F225-1AA661CDB562}"/>
              </a:ext>
            </a:extLst>
          </p:cNvPr>
          <p:cNvSpPr txBox="1"/>
          <p:nvPr/>
        </p:nvSpPr>
        <p:spPr>
          <a:xfrm>
            <a:off x="776377" y="1000664"/>
            <a:ext cx="10765766" cy="523220"/>
          </a:xfrm>
          <a:prstGeom prst="rect">
            <a:avLst/>
          </a:prstGeom>
          <a:noFill/>
        </p:spPr>
        <p:txBody>
          <a:bodyPr wrap="square" rtlCol="0">
            <a:spAutoFit/>
          </a:bodyPr>
          <a:lstStyle/>
          <a:p>
            <a:r>
              <a:rPr lang="en-US" sz="1400" dirty="0"/>
              <a:t>Vastu Shastra harmonizes your living and working spaces with the natural energies of the universe. Proper alignment can promote peace, prosperity, better relationships, and sustained growth.</a:t>
            </a:r>
            <a:endParaRPr lang="en-IN" sz="1400" dirty="0"/>
          </a:p>
        </p:txBody>
      </p:sp>
      <p:sp>
        <p:nvSpPr>
          <p:cNvPr id="8" name="TextBox 7">
            <a:extLst>
              <a:ext uri="{FF2B5EF4-FFF2-40B4-BE49-F238E27FC236}">
                <a16:creationId xmlns:a16="http://schemas.microsoft.com/office/drawing/2014/main" id="{4B6D9E68-3711-B8EC-EBD0-1BC2D0B8DF6B}"/>
              </a:ext>
            </a:extLst>
          </p:cNvPr>
          <p:cNvSpPr txBox="1"/>
          <p:nvPr/>
        </p:nvSpPr>
        <p:spPr>
          <a:xfrm>
            <a:off x="793628" y="230038"/>
            <a:ext cx="9569571" cy="584775"/>
          </a:xfrm>
          <a:prstGeom prst="rect">
            <a:avLst/>
          </a:prstGeom>
          <a:noFill/>
        </p:spPr>
        <p:txBody>
          <a:bodyPr wrap="square" rtlCol="0">
            <a:spAutoFit/>
          </a:bodyPr>
          <a:lstStyle/>
          <a:p>
            <a:r>
              <a:rPr lang="en-US" sz="3200" b="1" dirty="0"/>
              <a:t>Vastu Services</a:t>
            </a:r>
            <a:endParaRPr lang="en-IN" b="1" dirty="0"/>
          </a:p>
        </p:txBody>
      </p:sp>
      <p:sp>
        <p:nvSpPr>
          <p:cNvPr id="3" name="TextBox 2">
            <a:extLst>
              <a:ext uri="{FF2B5EF4-FFF2-40B4-BE49-F238E27FC236}">
                <a16:creationId xmlns:a16="http://schemas.microsoft.com/office/drawing/2014/main" id="{B0F69957-DAE3-785C-164F-037B925A55D3}"/>
              </a:ext>
            </a:extLst>
          </p:cNvPr>
          <p:cNvSpPr txBox="1"/>
          <p:nvPr/>
        </p:nvSpPr>
        <p:spPr>
          <a:xfrm>
            <a:off x="793628" y="1775655"/>
            <a:ext cx="6096000" cy="2677656"/>
          </a:xfrm>
          <a:prstGeom prst="rect">
            <a:avLst/>
          </a:prstGeom>
          <a:noFill/>
        </p:spPr>
        <p:txBody>
          <a:bodyPr wrap="square">
            <a:spAutoFit/>
          </a:bodyPr>
          <a:lstStyle/>
          <a:p>
            <a:r>
              <a:rPr lang="en-US" sz="1400" dirty="0"/>
              <a:t>Services</a:t>
            </a:r>
          </a:p>
          <a:p>
            <a:endParaRPr lang="en-US" sz="1400" dirty="0"/>
          </a:p>
          <a:p>
            <a:pPr marL="285750" indent="-285750">
              <a:buFont typeface="Arial" panose="020B0604020202020204" pitchFamily="34" charset="0"/>
              <a:buChar char="•"/>
            </a:pPr>
            <a:r>
              <a:rPr lang="en-US" sz="1400" dirty="0"/>
              <a:t>Residential Vastu </a:t>
            </a:r>
          </a:p>
          <a:p>
            <a:pPr marL="285750" indent="-285750">
              <a:buFont typeface="Arial" panose="020B0604020202020204" pitchFamily="34" charset="0"/>
              <a:buChar char="•"/>
            </a:pPr>
            <a:r>
              <a:rPr lang="en-US" sz="1400" dirty="0"/>
              <a:t>Commercial Vastu</a:t>
            </a:r>
          </a:p>
          <a:p>
            <a:pPr marL="285750" indent="-285750">
              <a:buFont typeface="Arial" panose="020B0604020202020204" pitchFamily="34" charset="0"/>
              <a:buChar char="•"/>
            </a:pPr>
            <a:r>
              <a:rPr lang="en-US" sz="1400" dirty="0"/>
              <a:t>Office Vastu</a:t>
            </a:r>
          </a:p>
          <a:p>
            <a:pPr marL="285750" indent="-285750">
              <a:buFont typeface="Arial" panose="020B0604020202020204" pitchFamily="34" charset="0"/>
              <a:buChar char="•"/>
            </a:pPr>
            <a:r>
              <a:rPr lang="en-US" sz="1400" dirty="0"/>
              <a:t>Factory &amp; Industrial Vastu</a:t>
            </a:r>
          </a:p>
          <a:p>
            <a:pPr marL="285750" indent="-285750">
              <a:buFont typeface="Arial" panose="020B0604020202020204" pitchFamily="34" charset="0"/>
              <a:buChar char="•"/>
            </a:pPr>
            <a:r>
              <a:rPr lang="en-US" sz="1400" dirty="0"/>
              <a:t>Retail Store Vastu</a:t>
            </a:r>
          </a:p>
          <a:p>
            <a:pPr marL="285750" indent="-285750">
              <a:buFont typeface="Arial" panose="020B0604020202020204" pitchFamily="34" charset="0"/>
              <a:buChar char="•"/>
            </a:pPr>
            <a:r>
              <a:rPr lang="en-US" sz="1400" dirty="0"/>
              <a:t>Plot Selection</a:t>
            </a:r>
          </a:p>
          <a:p>
            <a:pPr marL="285750" indent="-285750">
              <a:buFont typeface="Arial" panose="020B0604020202020204" pitchFamily="34" charset="0"/>
              <a:buChar char="•"/>
            </a:pPr>
            <a:r>
              <a:rPr lang="en-US" sz="1400" dirty="0"/>
              <a:t>Interior Energy Corrections</a:t>
            </a:r>
          </a:p>
          <a:p>
            <a:pPr marL="285750" indent="-285750">
              <a:buFont typeface="Arial" panose="020B0604020202020204" pitchFamily="34" charset="0"/>
              <a:buChar char="•"/>
            </a:pPr>
            <a:r>
              <a:rPr lang="en-US" sz="1400" dirty="0"/>
              <a:t>Vastu Audit</a:t>
            </a:r>
          </a:p>
          <a:p>
            <a:pPr marL="285750" indent="-285750">
              <a:buFont typeface="Arial" panose="020B0604020202020204" pitchFamily="34" charset="0"/>
              <a:buChar char="•"/>
            </a:pPr>
            <a:r>
              <a:rPr lang="en-US" sz="1400" dirty="0"/>
              <a:t>New Construction Consultation</a:t>
            </a:r>
          </a:p>
          <a:p>
            <a:pPr marL="285750" indent="-285750">
              <a:buFont typeface="Arial" panose="020B0604020202020204" pitchFamily="34" charset="0"/>
              <a:buChar char="•"/>
            </a:pPr>
            <a:r>
              <a:rPr lang="en-US" sz="1400" dirty="0"/>
              <a:t>Vastu Remedies (Without Demolition)</a:t>
            </a:r>
            <a:endParaRPr lang="en-IN" sz="1400" dirty="0"/>
          </a:p>
        </p:txBody>
      </p:sp>
    </p:spTree>
    <p:extLst>
      <p:ext uri="{BB962C8B-B14F-4D97-AF65-F5344CB8AC3E}">
        <p14:creationId xmlns:p14="http://schemas.microsoft.com/office/powerpoint/2010/main" val="1547596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30C0B-1B4C-4D8B-3BAB-6F6AB8F6A5D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2B768EF-2D80-00F4-4A24-6B1F7AFF305D}"/>
              </a:ext>
            </a:extLst>
          </p:cNvPr>
          <p:cNvSpPr txBox="1"/>
          <p:nvPr/>
        </p:nvSpPr>
        <p:spPr>
          <a:xfrm>
            <a:off x="776377" y="1000664"/>
            <a:ext cx="10765766" cy="523220"/>
          </a:xfrm>
          <a:prstGeom prst="rect">
            <a:avLst/>
          </a:prstGeom>
          <a:noFill/>
        </p:spPr>
        <p:txBody>
          <a:bodyPr wrap="square" rtlCol="0">
            <a:spAutoFit/>
          </a:bodyPr>
          <a:lstStyle/>
          <a:p>
            <a:r>
              <a:rPr lang="en-US" sz="1400" dirty="0"/>
              <a:t>Runes are ancient symbols of wisdom that provide intuitive guidance for life’s important questions. Rune readings offer clarity, direction, and spiritual insight when facing uncertainty or major decisions.</a:t>
            </a:r>
            <a:endParaRPr lang="en-IN" sz="1400" dirty="0"/>
          </a:p>
        </p:txBody>
      </p:sp>
      <p:sp>
        <p:nvSpPr>
          <p:cNvPr id="8" name="TextBox 7">
            <a:extLst>
              <a:ext uri="{FF2B5EF4-FFF2-40B4-BE49-F238E27FC236}">
                <a16:creationId xmlns:a16="http://schemas.microsoft.com/office/drawing/2014/main" id="{9447748F-5848-2C50-535E-E81210088432}"/>
              </a:ext>
            </a:extLst>
          </p:cNvPr>
          <p:cNvSpPr txBox="1"/>
          <p:nvPr/>
        </p:nvSpPr>
        <p:spPr>
          <a:xfrm>
            <a:off x="793628" y="230038"/>
            <a:ext cx="9569571" cy="584775"/>
          </a:xfrm>
          <a:prstGeom prst="rect">
            <a:avLst/>
          </a:prstGeom>
          <a:noFill/>
        </p:spPr>
        <p:txBody>
          <a:bodyPr wrap="square" rtlCol="0">
            <a:spAutoFit/>
          </a:bodyPr>
          <a:lstStyle/>
          <a:p>
            <a:r>
              <a:rPr lang="en-US" sz="3200" b="1" dirty="0"/>
              <a:t>Rune Card Reading Services</a:t>
            </a:r>
            <a:endParaRPr lang="en-IN" b="1" dirty="0"/>
          </a:p>
        </p:txBody>
      </p:sp>
      <p:sp>
        <p:nvSpPr>
          <p:cNvPr id="3" name="TextBox 2">
            <a:extLst>
              <a:ext uri="{FF2B5EF4-FFF2-40B4-BE49-F238E27FC236}">
                <a16:creationId xmlns:a16="http://schemas.microsoft.com/office/drawing/2014/main" id="{11442497-697F-7E67-7156-9B38522EB8F4}"/>
              </a:ext>
            </a:extLst>
          </p:cNvPr>
          <p:cNvSpPr txBox="1"/>
          <p:nvPr/>
        </p:nvSpPr>
        <p:spPr>
          <a:xfrm>
            <a:off x="793628" y="1775655"/>
            <a:ext cx="6096000" cy="2246769"/>
          </a:xfrm>
          <a:prstGeom prst="rect">
            <a:avLst/>
          </a:prstGeom>
          <a:noFill/>
        </p:spPr>
        <p:txBody>
          <a:bodyPr wrap="square">
            <a:spAutoFit/>
          </a:bodyPr>
          <a:lstStyle/>
          <a:p>
            <a:r>
              <a:rPr lang="en-US" sz="1400" dirty="0"/>
              <a:t>Services</a:t>
            </a:r>
          </a:p>
          <a:p>
            <a:endParaRPr lang="en-US" sz="1400" dirty="0"/>
          </a:p>
          <a:p>
            <a:r>
              <a:rPr lang="en-US" sz="1400" dirty="0"/>
              <a:t>Love &amp; Relationships</a:t>
            </a:r>
          </a:p>
          <a:p>
            <a:r>
              <a:rPr lang="en-US" sz="1400" dirty="0"/>
              <a:t>Career Guidance</a:t>
            </a:r>
          </a:p>
          <a:p>
            <a:r>
              <a:rPr lang="en-US" sz="1400" dirty="0"/>
              <a:t>Business Decisions</a:t>
            </a:r>
          </a:p>
          <a:p>
            <a:r>
              <a:rPr lang="en-US" sz="1400" dirty="0"/>
              <a:t>Financial Outlook</a:t>
            </a:r>
          </a:p>
          <a:p>
            <a:r>
              <a:rPr lang="en-US" sz="1400" dirty="0"/>
              <a:t>Spiritual Guidance</a:t>
            </a:r>
          </a:p>
          <a:p>
            <a:r>
              <a:rPr lang="en-US" sz="1400" dirty="0"/>
              <a:t>Daily / Weekly / Monthly Reading</a:t>
            </a:r>
          </a:p>
          <a:p>
            <a:r>
              <a:rPr lang="en-US" sz="1400" dirty="0"/>
              <a:t>Decision Making</a:t>
            </a:r>
          </a:p>
          <a:p>
            <a:r>
              <a:rPr lang="en-US" sz="1400" dirty="0"/>
              <a:t>Life Path Reading</a:t>
            </a:r>
            <a:endParaRPr lang="en-IN" sz="1400" dirty="0"/>
          </a:p>
        </p:txBody>
      </p:sp>
    </p:spTree>
    <p:extLst>
      <p:ext uri="{BB962C8B-B14F-4D97-AF65-F5344CB8AC3E}">
        <p14:creationId xmlns:p14="http://schemas.microsoft.com/office/powerpoint/2010/main" val="719731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8FB32-FBC8-261C-9300-9363FC6A4D1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F31BB96-4B2E-3708-3E2E-D0D4313C42AB}"/>
              </a:ext>
            </a:extLst>
          </p:cNvPr>
          <p:cNvSpPr txBox="1"/>
          <p:nvPr/>
        </p:nvSpPr>
        <p:spPr>
          <a:xfrm>
            <a:off x="776377" y="1000664"/>
            <a:ext cx="10765766" cy="523220"/>
          </a:xfrm>
          <a:prstGeom prst="rect">
            <a:avLst/>
          </a:prstGeom>
          <a:noFill/>
        </p:spPr>
        <p:txBody>
          <a:bodyPr wrap="square" rtlCol="0">
            <a:spAutoFit/>
          </a:bodyPr>
          <a:lstStyle/>
          <a:p>
            <a:r>
              <a:rPr lang="en-US" sz="1400" dirty="0"/>
              <a:t>Many recurring challenges originate from unresolved karmic patterns. Karma Alignment helps identify energetic blocks and supports personal transformation through conscious awareness and spiritual practices.</a:t>
            </a:r>
            <a:endParaRPr lang="en-IN" sz="1400" dirty="0"/>
          </a:p>
        </p:txBody>
      </p:sp>
      <p:sp>
        <p:nvSpPr>
          <p:cNvPr id="8" name="TextBox 7">
            <a:extLst>
              <a:ext uri="{FF2B5EF4-FFF2-40B4-BE49-F238E27FC236}">
                <a16:creationId xmlns:a16="http://schemas.microsoft.com/office/drawing/2014/main" id="{FF9CD222-4279-F426-9A21-2722B08312D2}"/>
              </a:ext>
            </a:extLst>
          </p:cNvPr>
          <p:cNvSpPr txBox="1"/>
          <p:nvPr/>
        </p:nvSpPr>
        <p:spPr>
          <a:xfrm>
            <a:off x="793628" y="230038"/>
            <a:ext cx="9569571" cy="584775"/>
          </a:xfrm>
          <a:prstGeom prst="rect">
            <a:avLst/>
          </a:prstGeom>
          <a:noFill/>
        </p:spPr>
        <p:txBody>
          <a:bodyPr wrap="square" rtlCol="0">
            <a:spAutoFit/>
          </a:bodyPr>
          <a:lstStyle/>
          <a:p>
            <a:r>
              <a:rPr lang="en-US" sz="3200" b="1" dirty="0"/>
              <a:t>Karma Alignment Services</a:t>
            </a:r>
            <a:endParaRPr lang="en-IN" b="1" dirty="0"/>
          </a:p>
        </p:txBody>
      </p:sp>
      <p:sp>
        <p:nvSpPr>
          <p:cNvPr id="3" name="TextBox 2">
            <a:extLst>
              <a:ext uri="{FF2B5EF4-FFF2-40B4-BE49-F238E27FC236}">
                <a16:creationId xmlns:a16="http://schemas.microsoft.com/office/drawing/2014/main" id="{B24A20D3-3601-4416-A5BF-27E47754705A}"/>
              </a:ext>
            </a:extLst>
          </p:cNvPr>
          <p:cNvSpPr txBox="1"/>
          <p:nvPr/>
        </p:nvSpPr>
        <p:spPr>
          <a:xfrm>
            <a:off x="793628" y="1775655"/>
            <a:ext cx="6096000" cy="2246769"/>
          </a:xfrm>
          <a:prstGeom prst="rect">
            <a:avLst/>
          </a:prstGeom>
          <a:noFill/>
        </p:spPr>
        <p:txBody>
          <a:bodyPr wrap="square">
            <a:spAutoFit/>
          </a:bodyPr>
          <a:lstStyle/>
          <a:p>
            <a:r>
              <a:rPr lang="en-US" sz="1400" dirty="0"/>
              <a:t>Services</a:t>
            </a:r>
          </a:p>
          <a:p>
            <a:endParaRPr lang="en-US" sz="1400" dirty="0"/>
          </a:p>
          <a:p>
            <a:r>
              <a:rPr lang="en-US" sz="1400" dirty="0"/>
              <a:t>Karmic Pattern Analysis</a:t>
            </a:r>
          </a:p>
          <a:p>
            <a:r>
              <a:rPr lang="en-US" sz="1400" dirty="0"/>
              <a:t>Past Life Influence Reading</a:t>
            </a:r>
          </a:p>
          <a:p>
            <a:r>
              <a:rPr lang="en-US" sz="1400" dirty="0"/>
              <a:t>Relationship Karma</a:t>
            </a:r>
          </a:p>
          <a:p>
            <a:r>
              <a:rPr lang="en-US" sz="1400" dirty="0"/>
              <a:t>Career Karma</a:t>
            </a:r>
          </a:p>
          <a:p>
            <a:r>
              <a:rPr lang="en-US" sz="1400" dirty="0"/>
              <a:t>Wealth Block Analysis</a:t>
            </a:r>
          </a:p>
          <a:p>
            <a:r>
              <a:rPr lang="en-US" sz="1400" dirty="0"/>
              <a:t>Family Karma</a:t>
            </a:r>
          </a:p>
          <a:p>
            <a:r>
              <a:rPr lang="en-US" sz="1400" dirty="0"/>
              <a:t>Spiritual Alignment</a:t>
            </a:r>
          </a:p>
          <a:p>
            <a:r>
              <a:rPr lang="en-US" sz="1400" dirty="0"/>
              <a:t>Personalized Karmic Remedies</a:t>
            </a:r>
            <a:endParaRPr lang="en-IN" sz="1400" dirty="0"/>
          </a:p>
        </p:txBody>
      </p:sp>
    </p:spTree>
    <p:extLst>
      <p:ext uri="{BB962C8B-B14F-4D97-AF65-F5344CB8AC3E}">
        <p14:creationId xmlns:p14="http://schemas.microsoft.com/office/powerpoint/2010/main" val="4058243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43A83-18F6-7216-CB3C-708E858EA41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7D3A009-FF9F-BA24-1882-5315744BAAE3}"/>
              </a:ext>
            </a:extLst>
          </p:cNvPr>
          <p:cNvSpPr txBox="1"/>
          <p:nvPr/>
        </p:nvSpPr>
        <p:spPr>
          <a:xfrm>
            <a:off x="776377" y="1000664"/>
            <a:ext cx="10765766" cy="523220"/>
          </a:xfrm>
          <a:prstGeom prst="rect">
            <a:avLst/>
          </a:prstGeom>
          <a:noFill/>
        </p:spPr>
        <p:txBody>
          <a:bodyPr wrap="square" rtlCol="0">
            <a:spAutoFit/>
          </a:bodyPr>
          <a:lstStyle/>
          <a:p>
            <a:r>
              <a:rPr lang="en-US" sz="1400" dirty="0"/>
              <a:t>Swar Vigyan is the ancient science of breath and energy flow. By understanding the rhythm of your breath, you can improve decision-making, productivity, health, and spiritual awareness.</a:t>
            </a:r>
            <a:endParaRPr lang="en-IN" sz="1400" dirty="0"/>
          </a:p>
        </p:txBody>
      </p:sp>
      <p:sp>
        <p:nvSpPr>
          <p:cNvPr id="8" name="TextBox 7">
            <a:extLst>
              <a:ext uri="{FF2B5EF4-FFF2-40B4-BE49-F238E27FC236}">
                <a16:creationId xmlns:a16="http://schemas.microsoft.com/office/drawing/2014/main" id="{D5D9A5F0-0E71-937F-CF90-AA1B75A127FA}"/>
              </a:ext>
            </a:extLst>
          </p:cNvPr>
          <p:cNvSpPr txBox="1"/>
          <p:nvPr/>
        </p:nvSpPr>
        <p:spPr>
          <a:xfrm>
            <a:off x="793628" y="230038"/>
            <a:ext cx="9569571" cy="584775"/>
          </a:xfrm>
          <a:prstGeom prst="rect">
            <a:avLst/>
          </a:prstGeom>
          <a:noFill/>
        </p:spPr>
        <p:txBody>
          <a:bodyPr wrap="square" rtlCol="0">
            <a:spAutoFit/>
          </a:bodyPr>
          <a:lstStyle/>
          <a:p>
            <a:r>
              <a:rPr lang="en-US" sz="3200" b="1" dirty="0"/>
              <a:t>Swar Vigyan Services</a:t>
            </a:r>
            <a:endParaRPr lang="en-IN" b="1" dirty="0"/>
          </a:p>
        </p:txBody>
      </p:sp>
      <p:sp>
        <p:nvSpPr>
          <p:cNvPr id="3" name="TextBox 2">
            <a:extLst>
              <a:ext uri="{FF2B5EF4-FFF2-40B4-BE49-F238E27FC236}">
                <a16:creationId xmlns:a16="http://schemas.microsoft.com/office/drawing/2014/main" id="{D0C964B4-6189-379D-05CC-63FF2A82355E}"/>
              </a:ext>
            </a:extLst>
          </p:cNvPr>
          <p:cNvSpPr txBox="1"/>
          <p:nvPr/>
        </p:nvSpPr>
        <p:spPr>
          <a:xfrm>
            <a:off x="793628" y="1775655"/>
            <a:ext cx="6096000" cy="1815882"/>
          </a:xfrm>
          <a:prstGeom prst="rect">
            <a:avLst/>
          </a:prstGeom>
          <a:noFill/>
        </p:spPr>
        <p:txBody>
          <a:bodyPr wrap="square">
            <a:spAutoFit/>
          </a:bodyPr>
          <a:lstStyle/>
          <a:p>
            <a:r>
              <a:rPr lang="en-US" sz="1400" dirty="0"/>
              <a:t>Services</a:t>
            </a:r>
          </a:p>
          <a:p>
            <a:endParaRPr lang="en-US" sz="1400" dirty="0"/>
          </a:p>
          <a:p>
            <a:r>
              <a:rPr lang="en-US" sz="1400" dirty="0"/>
              <a:t>Swar Analysis</a:t>
            </a:r>
          </a:p>
          <a:p>
            <a:r>
              <a:rPr lang="en-US" sz="1400" dirty="0"/>
              <a:t>Decision Timing</a:t>
            </a:r>
          </a:p>
          <a:p>
            <a:r>
              <a:rPr lang="en-US" sz="1400" dirty="0"/>
              <a:t>Breath Balancing</a:t>
            </a:r>
          </a:p>
          <a:p>
            <a:r>
              <a:rPr lang="en-US" sz="1400" dirty="0"/>
              <a:t>Daily Energy Planning</a:t>
            </a:r>
          </a:p>
          <a:p>
            <a:r>
              <a:rPr lang="en-US" sz="1400" dirty="0"/>
              <a:t>Success Timing</a:t>
            </a:r>
          </a:p>
          <a:p>
            <a:r>
              <a:rPr lang="en-US" sz="1400" dirty="0"/>
              <a:t>Spiritual Practices</a:t>
            </a:r>
            <a:endParaRPr lang="en-IN" sz="1400" dirty="0"/>
          </a:p>
        </p:txBody>
      </p:sp>
    </p:spTree>
    <p:extLst>
      <p:ext uri="{BB962C8B-B14F-4D97-AF65-F5344CB8AC3E}">
        <p14:creationId xmlns:p14="http://schemas.microsoft.com/office/powerpoint/2010/main" val="14630968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C4C75-6E03-4206-B46A-60D1B45976E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195CAA4-E89A-EEDF-21F9-3FB1A4D86880}"/>
              </a:ext>
            </a:extLst>
          </p:cNvPr>
          <p:cNvSpPr txBox="1"/>
          <p:nvPr/>
        </p:nvSpPr>
        <p:spPr>
          <a:xfrm>
            <a:off x="776377" y="1000664"/>
            <a:ext cx="10765766" cy="523220"/>
          </a:xfrm>
          <a:prstGeom prst="rect">
            <a:avLst/>
          </a:prstGeom>
          <a:noFill/>
        </p:spPr>
        <p:txBody>
          <a:bodyPr wrap="square" rtlCol="0">
            <a:spAutoFit/>
          </a:bodyPr>
          <a:lstStyle/>
          <a:p>
            <a:r>
              <a:rPr lang="en-US" sz="1400" dirty="0"/>
              <a:t>Every individual faces unique energetic and karmic influences. Meenakshii recommends personalized remedies based on careful analysis, helping clients restore balance and move forward with greater confidence and peace.</a:t>
            </a:r>
            <a:endParaRPr lang="en-IN" sz="1400" dirty="0"/>
          </a:p>
        </p:txBody>
      </p:sp>
      <p:sp>
        <p:nvSpPr>
          <p:cNvPr id="8" name="TextBox 7">
            <a:extLst>
              <a:ext uri="{FF2B5EF4-FFF2-40B4-BE49-F238E27FC236}">
                <a16:creationId xmlns:a16="http://schemas.microsoft.com/office/drawing/2014/main" id="{68B0E012-7463-A97C-1397-3D914DEB2680}"/>
              </a:ext>
            </a:extLst>
          </p:cNvPr>
          <p:cNvSpPr txBox="1"/>
          <p:nvPr/>
        </p:nvSpPr>
        <p:spPr>
          <a:xfrm>
            <a:off x="793628" y="230038"/>
            <a:ext cx="9569571" cy="584775"/>
          </a:xfrm>
          <a:prstGeom prst="rect">
            <a:avLst/>
          </a:prstGeom>
          <a:noFill/>
        </p:spPr>
        <p:txBody>
          <a:bodyPr wrap="square" rtlCol="0">
            <a:spAutoFit/>
          </a:bodyPr>
          <a:lstStyle/>
          <a:p>
            <a:r>
              <a:rPr lang="en-US" sz="3200" b="1" dirty="0"/>
              <a:t>Spiritual Remedies &amp; Counseling Services</a:t>
            </a:r>
            <a:endParaRPr lang="en-IN" b="1" dirty="0"/>
          </a:p>
        </p:txBody>
      </p:sp>
      <p:sp>
        <p:nvSpPr>
          <p:cNvPr id="3" name="TextBox 2">
            <a:extLst>
              <a:ext uri="{FF2B5EF4-FFF2-40B4-BE49-F238E27FC236}">
                <a16:creationId xmlns:a16="http://schemas.microsoft.com/office/drawing/2014/main" id="{DA614CA6-C3CD-3CFE-510B-24622D681CEB}"/>
              </a:ext>
            </a:extLst>
          </p:cNvPr>
          <p:cNvSpPr txBox="1"/>
          <p:nvPr/>
        </p:nvSpPr>
        <p:spPr>
          <a:xfrm>
            <a:off x="793628" y="1775655"/>
            <a:ext cx="6096000" cy="2462213"/>
          </a:xfrm>
          <a:prstGeom prst="rect">
            <a:avLst/>
          </a:prstGeom>
          <a:noFill/>
        </p:spPr>
        <p:txBody>
          <a:bodyPr wrap="square">
            <a:spAutoFit/>
          </a:bodyPr>
          <a:lstStyle/>
          <a:p>
            <a:r>
              <a:rPr lang="en-US" sz="1400" dirty="0"/>
              <a:t>Services</a:t>
            </a:r>
          </a:p>
          <a:p>
            <a:endParaRPr lang="en-US" sz="1400" dirty="0"/>
          </a:p>
          <a:p>
            <a:r>
              <a:rPr lang="en-US" sz="1400" dirty="0"/>
              <a:t>Gemstone Guidance</a:t>
            </a:r>
          </a:p>
          <a:p>
            <a:r>
              <a:rPr lang="en-US" sz="1400" dirty="0"/>
              <a:t>Mantra Recommendations</a:t>
            </a:r>
          </a:p>
          <a:p>
            <a:r>
              <a:rPr lang="en-US" sz="1400" dirty="0"/>
              <a:t>Yantra Guidance</a:t>
            </a:r>
          </a:p>
          <a:p>
            <a:r>
              <a:rPr lang="en-US" sz="1400" dirty="0"/>
              <a:t>Spiritual Practices</a:t>
            </a:r>
          </a:p>
          <a:p>
            <a:r>
              <a:rPr lang="en-US" sz="1400" dirty="0"/>
              <a:t>Energy Cleansing</a:t>
            </a:r>
          </a:p>
          <a:p>
            <a:r>
              <a:rPr lang="en-US" sz="1400" dirty="0"/>
              <a:t>Business Prosperity Remedies</a:t>
            </a:r>
          </a:p>
          <a:p>
            <a:r>
              <a:rPr lang="en-US" sz="1400" dirty="0"/>
              <a:t>Relationship Remedies</a:t>
            </a:r>
          </a:p>
          <a:p>
            <a:r>
              <a:rPr lang="en-US" sz="1400" dirty="0"/>
              <a:t>Career &amp; Financial Remedies</a:t>
            </a:r>
          </a:p>
          <a:p>
            <a:r>
              <a:rPr lang="en-US" sz="1400" dirty="0"/>
              <a:t>Personalized Counselling</a:t>
            </a:r>
            <a:endParaRPr lang="en-IN" sz="1400" dirty="0"/>
          </a:p>
        </p:txBody>
      </p:sp>
    </p:spTree>
    <p:extLst>
      <p:ext uri="{BB962C8B-B14F-4D97-AF65-F5344CB8AC3E}">
        <p14:creationId xmlns:p14="http://schemas.microsoft.com/office/powerpoint/2010/main" val="3696690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110A0-30F6-84C6-17BD-1E1926C9D85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5FF5B64-A031-7CE0-DAB1-9DFA7BB29593}"/>
              </a:ext>
            </a:extLst>
          </p:cNvPr>
          <p:cNvSpPr txBox="1"/>
          <p:nvPr/>
        </p:nvSpPr>
        <p:spPr>
          <a:xfrm>
            <a:off x="776377" y="1000664"/>
            <a:ext cx="10765766" cy="523220"/>
          </a:xfrm>
          <a:prstGeom prst="rect">
            <a:avLst/>
          </a:prstGeom>
          <a:noFill/>
        </p:spPr>
        <p:txBody>
          <a:bodyPr wrap="square" rtlCol="0">
            <a:spAutoFit/>
          </a:bodyPr>
          <a:lstStyle/>
          <a:p>
            <a:r>
              <a:rPr lang="en-IN" sz="1400" dirty="0"/>
              <a:t>In this service, Meenakshii </a:t>
            </a:r>
            <a:r>
              <a:rPr lang="en-IN" sz="1400" dirty="0" err="1"/>
              <a:t>analyzes</a:t>
            </a:r>
            <a:r>
              <a:rPr lang="en-IN" sz="1400" dirty="0"/>
              <a:t> the </a:t>
            </a:r>
            <a:r>
              <a:rPr lang="en-IN" sz="1400"/>
              <a:t>handwriting to </a:t>
            </a:r>
            <a:r>
              <a:rPr lang="en-IN" sz="1400" dirty="0"/>
              <a:t>understand an individual's character traits, strengths, weaknesses, emotional stability, and communication styles.</a:t>
            </a:r>
          </a:p>
        </p:txBody>
      </p:sp>
      <p:sp>
        <p:nvSpPr>
          <p:cNvPr id="8" name="TextBox 7">
            <a:extLst>
              <a:ext uri="{FF2B5EF4-FFF2-40B4-BE49-F238E27FC236}">
                <a16:creationId xmlns:a16="http://schemas.microsoft.com/office/drawing/2014/main" id="{2897BC7A-9EBC-56F1-EFD7-07FA0860602A}"/>
              </a:ext>
            </a:extLst>
          </p:cNvPr>
          <p:cNvSpPr txBox="1"/>
          <p:nvPr/>
        </p:nvSpPr>
        <p:spPr>
          <a:xfrm>
            <a:off x="793628" y="230038"/>
            <a:ext cx="9569571" cy="584775"/>
          </a:xfrm>
          <a:prstGeom prst="rect">
            <a:avLst/>
          </a:prstGeom>
          <a:noFill/>
        </p:spPr>
        <p:txBody>
          <a:bodyPr wrap="square" rtlCol="0">
            <a:spAutoFit/>
          </a:bodyPr>
          <a:lstStyle/>
          <a:p>
            <a:r>
              <a:rPr lang="en-US" sz="3200" b="1" dirty="0"/>
              <a:t>Graphology</a:t>
            </a:r>
            <a:endParaRPr lang="en-IN" b="1" dirty="0"/>
          </a:p>
        </p:txBody>
      </p:sp>
      <p:sp>
        <p:nvSpPr>
          <p:cNvPr id="3" name="TextBox 2">
            <a:extLst>
              <a:ext uri="{FF2B5EF4-FFF2-40B4-BE49-F238E27FC236}">
                <a16:creationId xmlns:a16="http://schemas.microsoft.com/office/drawing/2014/main" id="{42F933DC-FDCA-BBDC-C88D-BFD44EE5F64B}"/>
              </a:ext>
            </a:extLst>
          </p:cNvPr>
          <p:cNvSpPr txBox="1"/>
          <p:nvPr/>
        </p:nvSpPr>
        <p:spPr>
          <a:xfrm>
            <a:off x="793628" y="1775655"/>
            <a:ext cx="6096000" cy="954107"/>
          </a:xfrm>
          <a:prstGeom prst="rect">
            <a:avLst/>
          </a:prstGeom>
          <a:noFill/>
        </p:spPr>
        <p:txBody>
          <a:bodyPr wrap="square">
            <a:spAutoFit/>
          </a:bodyPr>
          <a:lstStyle/>
          <a:p>
            <a:r>
              <a:rPr lang="en-US" sz="1400" dirty="0"/>
              <a:t>Services</a:t>
            </a:r>
          </a:p>
          <a:p>
            <a:endParaRPr lang="en-US" sz="1400" dirty="0"/>
          </a:p>
          <a:p>
            <a:r>
              <a:rPr lang="en-US" sz="1400" dirty="0"/>
              <a:t>Handwriting Analysis</a:t>
            </a:r>
          </a:p>
          <a:p>
            <a:r>
              <a:rPr lang="en-US" sz="1400" dirty="0"/>
              <a:t>Signature Analysis</a:t>
            </a:r>
            <a:endParaRPr lang="en-IN" sz="1400" dirty="0"/>
          </a:p>
        </p:txBody>
      </p:sp>
    </p:spTree>
    <p:extLst>
      <p:ext uri="{BB962C8B-B14F-4D97-AF65-F5344CB8AC3E}">
        <p14:creationId xmlns:p14="http://schemas.microsoft.com/office/powerpoint/2010/main" val="1488466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24271-7FC1-30FB-55FE-FC21C937707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00B27A9-DB27-091E-5FCC-3027C2DBB310}"/>
              </a:ext>
            </a:extLst>
          </p:cNvPr>
          <p:cNvSpPr txBox="1"/>
          <p:nvPr/>
        </p:nvSpPr>
        <p:spPr>
          <a:xfrm>
            <a:off x="776377" y="1000664"/>
            <a:ext cx="10765766" cy="5493812"/>
          </a:xfrm>
          <a:prstGeom prst="rect">
            <a:avLst/>
          </a:prstGeom>
          <a:noFill/>
        </p:spPr>
        <p:txBody>
          <a:bodyPr wrap="square" rtlCol="0">
            <a:spAutoFit/>
          </a:bodyPr>
          <a:lstStyle/>
          <a:p>
            <a:r>
              <a:rPr lang="en-US" sz="1300" dirty="0"/>
              <a:t>Every consultation is thoughtfully prepared and personalized to ensure you receive meaningful guidance, practical insights, and recommended remedies tailored to your unique circumstances.</a:t>
            </a:r>
          </a:p>
          <a:p>
            <a:endParaRPr lang="en-US" sz="1300" dirty="0"/>
          </a:p>
          <a:p>
            <a:r>
              <a:rPr lang="en-US" sz="1300" b="1" dirty="0"/>
              <a:t>Step 1 : Explore &amp; Book </a:t>
            </a:r>
            <a:r>
              <a:rPr lang="en-US" sz="1300" dirty="0"/>
              <a:t>- Browse our services and select the consultation that best suits your needs. Click Book Consultation to begin your journey.</a:t>
            </a:r>
          </a:p>
          <a:p>
            <a:endParaRPr lang="en-US" sz="1300" dirty="0"/>
          </a:p>
          <a:p>
            <a:r>
              <a:rPr lang="en-US" sz="1300" b="1" dirty="0"/>
              <a:t>Step 2 : Share Your Details</a:t>
            </a:r>
            <a:r>
              <a:rPr lang="en-US" sz="1300" dirty="0"/>
              <a:t> - Complete a simple consultation form with your basic information, including your name, contact details, date of birth, time of birth, place of birth and the areas where you seek guidance.</a:t>
            </a:r>
          </a:p>
          <a:p>
            <a:endParaRPr lang="en-US" sz="1300" dirty="0"/>
          </a:p>
          <a:p>
            <a:r>
              <a:rPr lang="en-US" sz="1300" b="1" dirty="0"/>
              <a:t>Step 3 : Confirm Your Appointment </a:t>
            </a:r>
            <a:r>
              <a:rPr lang="en-US" sz="1300" dirty="0"/>
              <a:t>- Once your booking and payment are successfully completed, your consultation will be scheduled automatically. Appointments are typically available within 4–5 days, allowing sufficient time for detailed preparation.</a:t>
            </a:r>
          </a:p>
          <a:p>
            <a:endParaRPr lang="en-US" sz="1300" dirty="0"/>
          </a:p>
          <a:p>
            <a:r>
              <a:rPr lang="en-US" sz="1300" b="1" dirty="0"/>
              <a:t>Step 4 : Personalized Analysis </a:t>
            </a:r>
            <a:r>
              <a:rPr lang="en-US" sz="1300" dirty="0"/>
              <a:t>- Before your appointment, Meenakshii carefully studies your birth details and consultation requirements using her expertise in Astrology, Numerology and other sacred sciences. This dedicated preparation ensures that your session is insightful, focused, and tailored specifically to you.</a:t>
            </a:r>
          </a:p>
          <a:p>
            <a:endParaRPr lang="en-US" sz="1300" dirty="0"/>
          </a:p>
          <a:p>
            <a:r>
              <a:rPr lang="en-US" sz="1300" b="1" dirty="0"/>
              <a:t>Step 5 : One-to-One Consultation </a:t>
            </a:r>
            <a:r>
              <a:rPr lang="en-US" sz="1300" dirty="0"/>
              <a:t>- Your private consultation typically lasts 60 minutes or longer, depending on your questions and discussion. During the session, Meenakshii helps you understand the underlying influences behind your current challenges and provides practical guidance along with personalized spiritual remedies.</a:t>
            </a:r>
          </a:p>
          <a:p>
            <a:endParaRPr lang="en-US" sz="1300" dirty="0"/>
          </a:p>
          <a:p>
            <a:r>
              <a:rPr lang="en-US" sz="1300" b="1" dirty="0"/>
              <a:t>Step 6 : Your Personalized Guidance Report </a:t>
            </a:r>
            <a:r>
              <a:rPr lang="en-US" sz="1300" dirty="0"/>
              <a:t>- Following the consultation, you will receive a detailed </a:t>
            </a:r>
            <a:r>
              <a:rPr lang="en-US" sz="1300" dirty="0" err="1"/>
              <a:t>docum,ent</a:t>
            </a:r>
            <a:r>
              <a:rPr lang="en-US" sz="1300" dirty="0"/>
              <a:t> summarizing the recommended remedies, practices, and guidance discussed during your session, making it easy to refer to whenever needed.</a:t>
            </a:r>
          </a:p>
          <a:p>
            <a:endParaRPr lang="en-US" sz="1300" dirty="0"/>
          </a:p>
          <a:p>
            <a:r>
              <a:rPr lang="en-US" sz="1300" b="1" dirty="0"/>
              <a:t>Step 7 : 15-Day Post-Consultation Support </a:t>
            </a:r>
            <a:r>
              <a:rPr lang="en-US" sz="1300" dirty="0"/>
              <a:t>- Your journey continues even after the consultation. Every client receives 15 days of post-consultation support to clarify questions related to the recommended remedies, their implementation, and the guidance provided during the session.</a:t>
            </a:r>
          </a:p>
          <a:p>
            <a:endParaRPr lang="en-US" sz="1300" dirty="0"/>
          </a:p>
          <a:p>
            <a:r>
              <a:rPr lang="en-US" sz="1300" b="1" dirty="0"/>
              <a:t>Step 8 : Share Your Experience </a:t>
            </a:r>
            <a:r>
              <a:rPr lang="en-US" sz="1300" dirty="0"/>
              <a:t>- Your feedback is invaluable. Once your consultation journey is complete, we invite you to share your experience. Your review helps us continually enhance our services and enables others to make informed decisions with confidence.</a:t>
            </a:r>
          </a:p>
        </p:txBody>
      </p:sp>
      <p:sp>
        <p:nvSpPr>
          <p:cNvPr id="8" name="TextBox 7">
            <a:extLst>
              <a:ext uri="{FF2B5EF4-FFF2-40B4-BE49-F238E27FC236}">
                <a16:creationId xmlns:a16="http://schemas.microsoft.com/office/drawing/2014/main" id="{1CD587A2-8F0D-106D-6291-B42D655660AD}"/>
              </a:ext>
            </a:extLst>
          </p:cNvPr>
          <p:cNvSpPr txBox="1"/>
          <p:nvPr/>
        </p:nvSpPr>
        <p:spPr>
          <a:xfrm>
            <a:off x="793628" y="230038"/>
            <a:ext cx="9569571" cy="584775"/>
          </a:xfrm>
          <a:prstGeom prst="rect">
            <a:avLst/>
          </a:prstGeom>
          <a:noFill/>
        </p:spPr>
        <p:txBody>
          <a:bodyPr wrap="square" rtlCol="0">
            <a:spAutoFit/>
          </a:bodyPr>
          <a:lstStyle/>
          <a:p>
            <a:r>
              <a:rPr lang="en-US" sz="3200" b="1" dirty="0"/>
              <a:t>Your Consultation Journey</a:t>
            </a:r>
            <a:endParaRPr lang="en-IN" b="1" dirty="0"/>
          </a:p>
        </p:txBody>
      </p:sp>
    </p:spTree>
    <p:extLst>
      <p:ext uri="{BB962C8B-B14F-4D97-AF65-F5344CB8AC3E}">
        <p14:creationId xmlns:p14="http://schemas.microsoft.com/office/powerpoint/2010/main" val="42880390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74794-CFBD-B672-ABF5-18561F186ED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38A2CBE-95FF-2802-EE22-7283DD04A068}"/>
              </a:ext>
            </a:extLst>
          </p:cNvPr>
          <p:cNvSpPr txBox="1"/>
          <p:nvPr/>
        </p:nvSpPr>
        <p:spPr>
          <a:xfrm>
            <a:off x="776377" y="1000664"/>
            <a:ext cx="10765766" cy="4616648"/>
          </a:xfrm>
          <a:prstGeom prst="rect">
            <a:avLst/>
          </a:prstGeom>
          <a:noFill/>
        </p:spPr>
        <p:txBody>
          <a:bodyPr wrap="square" rtlCol="0">
            <a:spAutoFit/>
          </a:bodyPr>
          <a:lstStyle/>
          <a:p>
            <a:r>
              <a:rPr lang="en-US" sz="1400" b="1" dirty="0"/>
              <a:t>Payments </a:t>
            </a:r>
            <a:r>
              <a:rPr lang="en-US" sz="1400" dirty="0"/>
              <a:t>- All consultation fees are payable in advance and are required to confirm your appointment.</a:t>
            </a:r>
          </a:p>
          <a:p>
            <a:endParaRPr lang="en-US" sz="1400" dirty="0"/>
          </a:p>
          <a:p>
            <a:r>
              <a:rPr lang="en-US" sz="1400" b="1" dirty="0"/>
              <a:t>Refund Policy </a:t>
            </a:r>
            <a:r>
              <a:rPr lang="en-US" sz="1400" dirty="0"/>
              <a:t>- As considerable time is invested in preparing each personalized consultation before the scheduled appointment, all consultation fees are generally non-refundable once the booking has been confirmed.</a:t>
            </a:r>
          </a:p>
          <a:p>
            <a:endParaRPr lang="en-US" sz="1400" dirty="0"/>
          </a:p>
          <a:p>
            <a:r>
              <a:rPr lang="en-US" sz="1400" dirty="0"/>
              <a:t>Refunds, if approved under exceptional circumstances, shall be entirely at the sole discretion of Meenakshii.</a:t>
            </a:r>
          </a:p>
          <a:p>
            <a:endParaRPr lang="en-US" sz="1400" dirty="0"/>
          </a:p>
          <a:p>
            <a:r>
              <a:rPr lang="en-US" sz="1400" b="1" dirty="0"/>
              <a:t>Rescheduling</a:t>
            </a:r>
            <a:r>
              <a:rPr lang="en-US" sz="1400" dirty="0"/>
              <a:t> - Clients may request to reschedule their appointment by providing adequate advance notice. Rescheduling requests are subject to availability.</a:t>
            </a:r>
          </a:p>
          <a:p>
            <a:endParaRPr lang="en-US" sz="1400" dirty="0"/>
          </a:p>
          <a:p>
            <a:r>
              <a:rPr lang="en-US" sz="1400" b="1" dirty="0"/>
              <a:t>Missed Appointments </a:t>
            </a:r>
            <a:r>
              <a:rPr lang="en-US" sz="1400" dirty="0"/>
              <a:t>- Failure to attend the scheduled consultation without prior notice may result in forfeiture of the appointment and consultation fee.</a:t>
            </a:r>
          </a:p>
          <a:p>
            <a:endParaRPr lang="en-US" sz="1400" dirty="0"/>
          </a:p>
          <a:p>
            <a:r>
              <a:rPr lang="en-US" sz="1400" b="1" dirty="0"/>
              <a:t>Preparation Time </a:t>
            </a:r>
            <a:r>
              <a:rPr lang="en-US" sz="1400" dirty="0"/>
              <a:t>- Consultations are generally scheduled within 4–5 days after payment confirmation, allowing sufficient time for detailed preparation and personalized analysis.</a:t>
            </a:r>
          </a:p>
          <a:p>
            <a:endParaRPr lang="en-US" sz="1400" dirty="0"/>
          </a:p>
          <a:p>
            <a:r>
              <a:rPr lang="en-US" sz="1400" b="1" dirty="0"/>
              <a:t>Post-Consultation Support </a:t>
            </a:r>
            <a:r>
              <a:rPr lang="en-US" sz="1400" dirty="0"/>
              <a:t>- Every consultation includes 15 days of post-consultation support for clarification regarding the guidance and remedies discussed during the session.</a:t>
            </a:r>
          </a:p>
          <a:p>
            <a:endParaRPr lang="en-US" sz="1400" dirty="0"/>
          </a:p>
          <a:p>
            <a:r>
              <a:rPr lang="en-US" sz="1400" b="1" dirty="0"/>
              <a:t>Client Cooperation</a:t>
            </a:r>
            <a:r>
              <a:rPr lang="en-US" sz="1400" dirty="0"/>
              <a:t> - The quality of the consultation depends on the accuracy of the information provided. Clients are encouraged to share complete and correct details for meaningful guidance.</a:t>
            </a:r>
            <a:endParaRPr lang="en-IN" sz="1400" dirty="0"/>
          </a:p>
        </p:txBody>
      </p:sp>
      <p:sp>
        <p:nvSpPr>
          <p:cNvPr id="8" name="TextBox 7">
            <a:extLst>
              <a:ext uri="{FF2B5EF4-FFF2-40B4-BE49-F238E27FC236}">
                <a16:creationId xmlns:a16="http://schemas.microsoft.com/office/drawing/2014/main" id="{33C96FB7-F8DD-D3FA-416E-993A53DCA27F}"/>
              </a:ext>
            </a:extLst>
          </p:cNvPr>
          <p:cNvSpPr txBox="1"/>
          <p:nvPr/>
        </p:nvSpPr>
        <p:spPr>
          <a:xfrm>
            <a:off x="793628" y="230038"/>
            <a:ext cx="9569571" cy="584775"/>
          </a:xfrm>
          <a:prstGeom prst="rect">
            <a:avLst/>
          </a:prstGeom>
          <a:noFill/>
        </p:spPr>
        <p:txBody>
          <a:bodyPr wrap="square" rtlCol="0">
            <a:spAutoFit/>
          </a:bodyPr>
          <a:lstStyle/>
          <a:p>
            <a:r>
              <a:rPr lang="en-US" sz="3200" b="1" dirty="0"/>
              <a:t>Refund, Cancellation &amp; Consultation Policy</a:t>
            </a:r>
            <a:endParaRPr lang="en-IN" b="1" dirty="0"/>
          </a:p>
        </p:txBody>
      </p:sp>
    </p:spTree>
    <p:extLst>
      <p:ext uri="{BB962C8B-B14F-4D97-AF65-F5344CB8AC3E}">
        <p14:creationId xmlns:p14="http://schemas.microsoft.com/office/powerpoint/2010/main" val="3915062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A72F2-2682-4CAE-B09D-A27DF108873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C1CFA02-AEB6-A555-FB1F-41EE0A4371D3}"/>
              </a:ext>
            </a:extLst>
          </p:cNvPr>
          <p:cNvSpPr txBox="1"/>
          <p:nvPr/>
        </p:nvSpPr>
        <p:spPr>
          <a:xfrm>
            <a:off x="776377" y="1000664"/>
            <a:ext cx="10765766" cy="5693866"/>
          </a:xfrm>
          <a:prstGeom prst="rect">
            <a:avLst/>
          </a:prstGeom>
          <a:noFill/>
        </p:spPr>
        <p:txBody>
          <a:bodyPr wrap="square" rtlCol="0">
            <a:spAutoFit/>
          </a:bodyPr>
          <a:lstStyle/>
          <a:p>
            <a:r>
              <a:rPr lang="en-US" sz="1400" b="1" dirty="0"/>
              <a:t>Acceptance of Terms</a:t>
            </a:r>
            <a:r>
              <a:rPr lang="en-US" sz="1400" dirty="0"/>
              <a:t> : By accessing this website or booking a consultation with Meenakshii, you acknowledge that you have read, understood, and agree to be bound by these Terms &amp; Conditions.</a:t>
            </a:r>
          </a:p>
          <a:p>
            <a:endParaRPr lang="en-US" sz="1400" dirty="0"/>
          </a:p>
          <a:p>
            <a:r>
              <a:rPr lang="en-US" sz="1400" b="1" dirty="0"/>
              <a:t>Nature of Services</a:t>
            </a:r>
            <a:r>
              <a:rPr lang="en-US" sz="1400" dirty="0"/>
              <a:t> : All consultations are based on the principles of Vedic Astrology, Numerology, Vastu Shastra and other traditional metaphysical sciences. The guidance provided represents </a:t>
            </a:r>
            <a:r>
              <a:rPr lang="en-US" sz="1400" dirty="0" err="1"/>
              <a:t>Meenakshii’s</a:t>
            </a:r>
            <a:r>
              <a:rPr lang="en-US" sz="1400" dirty="0"/>
              <a:t> professional interpretation and is intended to offer insight, clarity, and spiritual direction.</a:t>
            </a:r>
          </a:p>
          <a:p>
            <a:endParaRPr lang="en-US" sz="1400" dirty="0"/>
          </a:p>
          <a:p>
            <a:r>
              <a:rPr lang="en-US" sz="1400" b="1" dirty="0"/>
              <a:t>Booking &amp; Payments</a:t>
            </a:r>
            <a:r>
              <a:rPr lang="en-US" sz="1400" dirty="0"/>
              <a:t> : </a:t>
            </a:r>
          </a:p>
          <a:p>
            <a:r>
              <a:rPr lang="en-US" sz="1400" dirty="0"/>
              <a:t>	Appointments are confirmed only after full payment is received.</a:t>
            </a:r>
          </a:p>
          <a:p>
            <a:r>
              <a:rPr lang="en-US" sz="1400" dirty="0"/>
              <a:t>	Consultation fees are payable in advance.</a:t>
            </a:r>
          </a:p>
          <a:p>
            <a:r>
              <a:rPr lang="en-US" sz="1400" dirty="0"/>
              <a:t>	Pricing is subject to change without prior notice but will not affect confirmed bookings.</a:t>
            </a:r>
          </a:p>
          <a:p>
            <a:endParaRPr lang="en-US" sz="1400" dirty="0"/>
          </a:p>
          <a:p>
            <a:r>
              <a:rPr lang="en-US" sz="1400" b="1" dirty="0"/>
              <a:t>Consultation Schedule </a:t>
            </a:r>
            <a:r>
              <a:rPr lang="en-US" sz="1400" dirty="0"/>
              <a:t>: Appointments are generally scheduled within 4–5 days after payment confirmation. This preparation period enables Meenakshii to conduct a detailed analysis before your consultation.</a:t>
            </a:r>
          </a:p>
          <a:p>
            <a:endParaRPr lang="en-US" sz="1400" dirty="0"/>
          </a:p>
          <a:p>
            <a:r>
              <a:rPr lang="en-US" sz="1400" b="1" dirty="0"/>
              <a:t>Client Responsibilities </a:t>
            </a:r>
            <a:r>
              <a:rPr lang="en-US" sz="1400" dirty="0"/>
              <a:t>: Clients are responsible for providing accurate personal details, including date of birth, time of birth, place of birth, and any other relevant information required for the consultation.</a:t>
            </a:r>
          </a:p>
          <a:p>
            <a:endParaRPr lang="en-US" sz="1400" dirty="0"/>
          </a:p>
          <a:p>
            <a:r>
              <a:rPr lang="en-US" sz="1400" b="1" dirty="0"/>
              <a:t>Intellectual Property </a:t>
            </a:r>
            <a:r>
              <a:rPr lang="en-US" sz="1400" dirty="0"/>
              <a:t>: All consultation reports, remedies, written content, website materials, and documents are the intellectual property of Meenakshii and are intended solely for the personal use of the client. Reproduction, distribution, or commercial use is prohibited.</a:t>
            </a:r>
          </a:p>
          <a:p>
            <a:endParaRPr lang="en-US" sz="1400" dirty="0"/>
          </a:p>
          <a:p>
            <a:r>
              <a:rPr lang="en-US" sz="1400" b="1" dirty="0"/>
              <a:t>Limitation of Liability</a:t>
            </a:r>
            <a:r>
              <a:rPr lang="en-US" sz="1400" dirty="0"/>
              <a:t> : Consultations provide guidance and should not be considered a substitute for medical, legal, financial, psychological, or other professional advice. Clients remain solely responsible for their personal decisions and actions.</a:t>
            </a:r>
          </a:p>
          <a:p>
            <a:endParaRPr lang="en-US" sz="1400" dirty="0"/>
          </a:p>
          <a:p>
            <a:r>
              <a:rPr lang="en-US" sz="1400" b="1" dirty="0"/>
              <a:t>Changes to Terms </a:t>
            </a:r>
            <a:r>
              <a:rPr lang="en-US" sz="1400" dirty="0"/>
              <a:t>: These Terms &amp; Conditions may be updated from time to time without prior notice.</a:t>
            </a:r>
          </a:p>
        </p:txBody>
      </p:sp>
      <p:sp>
        <p:nvSpPr>
          <p:cNvPr id="8" name="TextBox 7">
            <a:extLst>
              <a:ext uri="{FF2B5EF4-FFF2-40B4-BE49-F238E27FC236}">
                <a16:creationId xmlns:a16="http://schemas.microsoft.com/office/drawing/2014/main" id="{93420EA3-E304-18A1-028F-114B76F297E2}"/>
              </a:ext>
            </a:extLst>
          </p:cNvPr>
          <p:cNvSpPr txBox="1"/>
          <p:nvPr/>
        </p:nvSpPr>
        <p:spPr>
          <a:xfrm>
            <a:off x="793628" y="230038"/>
            <a:ext cx="9569571" cy="584775"/>
          </a:xfrm>
          <a:prstGeom prst="rect">
            <a:avLst/>
          </a:prstGeom>
          <a:noFill/>
        </p:spPr>
        <p:txBody>
          <a:bodyPr wrap="square" rtlCol="0">
            <a:spAutoFit/>
          </a:bodyPr>
          <a:lstStyle/>
          <a:p>
            <a:r>
              <a:rPr lang="en-US" sz="3200" b="1" dirty="0"/>
              <a:t>Terms &amp; Conditions</a:t>
            </a:r>
            <a:endParaRPr lang="en-IN" b="1" dirty="0"/>
          </a:p>
        </p:txBody>
      </p:sp>
    </p:spTree>
    <p:extLst>
      <p:ext uri="{BB962C8B-B14F-4D97-AF65-F5344CB8AC3E}">
        <p14:creationId xmlns:p14="http://schemas.microsoft.com/office/powerpoint/2010/main" val="41220824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FC091-99FA-4976-7297-1C8D9CAB45C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6A1D1F2-0EBF-9B8B-D702-858CCF4A32AC}"/>
              </a:ext>
            </a:extLst>
          </p:cNvPr>
          <p:cNvSpPr txBox="1"/>
          <p:nvPr/>
        </p:nvSpPr>
        <p:spPr>
          <a:xfrm>
            <a:off x="776377" y="1000664"/>
            <a:ext cx="10765766" cy="4401205"/>
          </a:xfrm>
          <a:prstGeom prst="rect">
            <a:avLst/>
          </a:prstGeom>
          <a:noFill/>
        </p:spPr>
        <p:txBody>
          <a:bodyPr wrap="square" rtlCol="0">
            <a:spAutoFit/>
          </a:bodyPr>
          <a:lstStyle/>
          <a:p>
            <a:r>
              <a:rPr lang="en-US" sz="1400" b="1" dirty="0"/>
              <a:t>Your privacy is important to us.</a:t>
            </a:r>
          </a:p>
          <a:p>
            <a:endParaRPr lang="en-US" sz="1400" dirty="0"/>
          </a:p>
          <a:p>
            <a:r>
              <a:rPr lang="en-US" sz="1400" b="1" dirty="0"/>
              <a:t>Information We Collect </a:t>
            </a:r>
            <a:r>
              <a:rPr lang="en-US" sz="1400" dirty="0"/>
              <a:t>- We may collect your name, contact details, date of birth, time of birth, place of birth, consultation requirements, and other information voluntarily provided by you.</a:t>
            </a:r>
          </a:p>
          <a:p>
            <a:endParaRPr lang="en-US" sz="1400" dirty="0"/>
          </a:p>
          <a:p>
            <a:r>
              <a:rPr lang="en-US" sz="1400" b="1" dirty="0"/>
              <a:t>Purpose of Collection </a:t>
            </a:r>
            <a:r>
              <a:rPr lang="en-US" sz="1400" dirty="0"/>
              <a:t>- Your information is collected solely for:</a:t>
            </a:r>
          </a:p>
          <a:p>
            <a:r>
              <a:rPr lang="en-US" sz="1400" dirty="0"/>
              <a:t>	Scheduling consultations</a:t>
            </a:r>
          </a:p>
          <a:p>
            <a:r>
              <a:rPr lang="en-US" sz="1400" dirty="0"/>
              <a:t>	Preparing personalized analysis</a:t>
            </a:r>
          </a:p>
          <a:p>
            <a:r>
              <a:rPr lang="en-US" sz="1400" dirty="0"/>
              <a:t>	Providing reports and remedies</a:t>
            </a:r>
          </a:p>
          <a:p>
            <a:r>
              <a:rPr lang="en-US" sz="1400" dirty="0"/>
              <a:t>	Communicating regarding appointments and follow-up support</a:t>
            </a:r>
          </a:p>
          <a:p>
            <a:r>
              <a:rPr lang="en-US" sz="1400" dirty="0"/>
              <a:t>	Improving our services</a:t>
            </a:r>
          </a:p>
          <a:p>
            <a:endParaRPr lang="en-US" sz="1400" dirty="0"/>
          </a:p>
          <a:p>
            <a:r>
              <a:rPr lang="en-US" sz="1400" b="1" dirty="0"/>
              <a:t>Confidentiality </a:t>
            </a:r>
            <a:r>
              <a:rPr lang="en-US" sz="1400" dirty="0"/>
              <a:t>- All personal information and consultation discussions are treated with strict confidentiality and are never sold or shared with third parties except where required by law.</a:t>
            </a:r>
          </a:p>
          <a:p>
            <a:endParaRPr lang="en-US" sz="1400" dirty="0"/>
          </a:p>
          <a:p>
            <a:r>
              <a:rPr lang="en-US" sz="1400" b="1" dirty="0"/>
              <a:t>Data Security </a:t>
            </a:r>
            <a:r>
              <a:rPr lang="en-US" sz="1400" dirty="0"/>
              <a:t>- Reasonable administrative and technical safeguards are implemented to protect your information from unauthorized access. </a:t>
            </a:r>
          </a:p>
          <a:p>
            <a:endParaRPr lang="en-US" sz="1400" dirty="0"/>
          </a:p>
          <a:p>
            <a:r>
              <a:rPr lang="en-US" sz="1400" b="1" dirty="0"/>
              <a:t>Your Consent</a:t>
            </a:r>
            <a:r>
              <a:rPr lang="en-US" sz="1400" dirty="0"/>
              <a:t> - By submitting your information through this website, you consent to its collection and use in accordance with this Privacy Policy.</a:t>
            </a:r>
            <a:endParaRPr lang="en-IN" sz="1400" dirty="0"/>
          </a:p>
        </p:txBody>
      </p:sp>
      <p:sp>
        <p:nvSpPr>
          <p:cNvPr id="8" name="TextBox 7">
            <a:extLst>
              <a:ext uri="{FF2B5EF4-FFF2-40B4-BE49-F238E27FC236}">
                <a16:creationId xmlns:a16="http://schemas.microsoft.com/office/drawing/2014/main" id="{7480443D-EAC6-CDFD-AC3E-8DEB390F665E}"/>
              </a:ext>
            </a:extLst>
          </p:cNvPr>
          <p:cNvSpPr txBox="1"/>
          <p:nvPr/>
        </p:nvSpPr>
        <p:spPr>
          <a:xfrm>
            <a:off x="793628" y="230038"/>
            <a:ext cx="9569571" cy="584775"/>
          </a:xfrm>
          <a:prstGeom prst="rect">
            <a:avLst/>
          </a:prstGeom>
          <a:noFill/>
        </p:spPr>
        <p:txBody>
          <a:bodyPr wrap="square" rtlCol="0">
            <a:spAutoFit/>
          </a:bodyPr>
          <a:lstStyle/>
          <a:p>
            <a:r>
              <a:rPr lang="en-US" sz="3200" b="1" dirty="0"/>
              <a:t>Privacy Policy</a:t>
            </a:r>
            <a:endParaRPr lang="en-IN" b="1" dirty="0"/>
          </a:p>
        </p:txBody>
      </p:sp>
    </p:spTree>
    <p:extLst>
      <p:ext uri="{BB962C8B-B14F-4D97-AF65-F5344CB8AC3E}">
        <p14:creationId xmlns:p14="http://schemas.microsoft.com/office/powerpoint/2010/main" val="3052976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D87C1-2688-8ECE-2245-29E703D7004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374B98F-B4BF-59C9-4331-542732EBFB1E}"/>
              </a:ext>
            </a:extLst>
          </p:cNvPr>
          <p:cNvSpPr txBox="1"/>
          <p:nvPr/>
        </p:nvSpPr>
        <p:spPr>
          <a:xfrm>
            <a:off x="776377" y="1000664"/>
            <a:ext cx="10765766" cy="3139321"/>
          </a:xfrm>
          <a:prstGeom prst="rect">
            <a:avLst/>
          </a:prstGeom>
          <a:noFill/>
        </p:spPr>
        <p:txBody>
          <a:bodyPr wrap="square" rtlCol="0">
            <a:spAutoFit/>
          </a:bodyPr>
          <a:lstStyle/>
          <a:p>
            <a:r>
              <a:rPr lang="en-US" sz="1400" dirty="0"/>
              <a:t>Every challenge carries an opportunity for growth, and every journey begins with a decision. </a:t>
            </a:r>
          </a:p>
          <a:p>
            <a:endParaRPr lang="en-US" sz="1400" dirty="0"/>
          </a:p>
          <a:p>
            <a:r>
              <a:rPr lang="en-US" sz="1400" dirty="0"/>
              <a:t>If you are ready to gain deeper insights into your life, relationships, career, business, or future direction, we invite you to begin your journey with Meenakshii.</a:t>
            </a:r>
          </a:p>
          <a:p>
            <a:endParaRPr lang="en-US" sz="1400" dirty="0"/>
          </a:p>
          <a:p>
            <a:r>
              <a:rPr lang="en-US" sz="1400" dirty="0"/>
              <a:t>Together, let us explore the path that leads to greater balance, clarity, and prosperity.</a:t>
            </a:r>
          </a:p>
          <a:p>
            <a:endParaRPr lang="en-US" sz="1400" dirty="0"/>
          </a:p>
          <a:p>
            <a:r>
              <a:rPr lang="en-US" sz="1400" dirty="0"/>
              <a:t>Schedule Your Consultation Today</a:t>
            </a:r>
          </a:p>
          <a:p>
            <a:endParaRPr lang="en-US" sz="1400" dirty="0"/>
          </a:p>
          <a:p>
            <a:endParaRPr lang="en-US" sz="1400" dirty="0"/>
          </a:p>
          <a:p>
            <a:endParaRPr lang="en-US" sz="1400" dirty="0"/>
          </a:p>
          <a:p>
            <a:endParaRPr lang="en-US" sz="1400" dirty="0"/>
          </a:p>
          <a:p>
            <a:endParaRPr lang="en-US" sz="1400" dirty="0"/>
          </a:p>
          <a:p>
            <a:pPr algn="ctr"/>
            <a:r>
              <a:rPr lang="en-US" sz="1600" b="1" dirty="0"/>
              <a:t>By Appointment Only • Personalized Consultations • Online Worldwide • Completely Confidential</a:t>
            </a:r>
            <a:endParaRPr lang="en-IN" sz="1400" b="1" dirty="0"/>
          </a:p>
        </p:txBody>
      </p:sp>
      <p:sp>
        <p:nvSpPr>
          <p:cNvPr id="8" name="TextBox 7">
            <a:extLst>
              <a:ext uri="{FF2B5EF4-FFF2-40B4-BE49-F238E27FC236}">
                <a16:creationId xmlns:a16="http://schemas.microsoft.com/office/drawing/2014/main" id="{72D8B1FA-B026-79B6-E04E-E6AB58324B62}"/>
              </a:ext>
            </a:extLst>
          </p:cNvPr>
          <p:cNvSpPr txBox="1"/>
          <p:nvPr/>
        </p:nvSpPr>
        <p:spPr>
          <a:xfrm>
            <a:off x="793628" y="230038"/>
            <a:ext cx="9569571" cy="584775"/>
          </a:xfrm>
          <a:prstGeom prst="rect">
            <a:avLst/>
          </a:prstGeom>
          <a:noFill/>
        </p:spPr>
        <p:txBody>
          <a:bodyPr wrap="square" rtlCol="0">
            <a:spAutoFit/>
          </a:bodyPr>
          <a:lstStyle/>
          <a:p>
            <a:r>
              <a:rPr lang="en-US" sz="3200" b="1" dirty="0"/>
              <a:t>Take the First Step Towards Positive Change</a:t>
            </a:r>
            <a:endParaRPr lang="en-IN" sz="3200" b="1" dirty="0"/>
          </a:p>
        </p:txBody>
      </p:sp>
      <p:sp>
        <p:nvSpPr>
          <p:cNvPr id="3" name="Rectangle: Rounded Corners 2">
            <a:extLst>
              <a:ext uri="{FF2B5EF4-FFF2-40B4-BE49-F238E27FC236}">
                <a16:creationId xmlns:a16="http://schemas.microsoft.com/office/drawing/2014/main" id="{1A31F315-8069-9212-8EC4-832E04E156A3}"/>
              </a:ext>
            </a:extLst>
          </p:cNvPr>
          <p:cNvSpPr/>
          <p:nvPr/>
        </p:nvSpPr>
        <p:spPr>
          <a:xfrm>
            <a:off x="1874808" y="5195977"/>
            <a:ext cx="3404558" cy="511834"/>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Book a Private Consultation</a:t>
            </a:r>
            <a:endParaRPr lang="en-IN" dirty="0"/>
          </a:p>
        </p:txBody>
      </p:sp>
      <p:sp>
        <p:nvSpPr>
          <p:cNvPr id="6" name="Rectangle: Rounded Corners 5">
            <a:extLst>
              <a:ext uri="{FF2B5EF4-FFF2-40B4-BE49-F238E27FC236}">
                <a16:creationId xmlns:a16="http://schemas.microsoft.com/office/drawing/2014/main" id="{5AD3E728-920F-0093-8EE0-276F583114F7}"/>
              </a:ext>
            </a:extLst>
          </p:cNvPr>
          <p:cNvSpPr/>
          <p:nvPr/>
        </p:nvSpPr>
        <p:spPr>
          <a:xfrm>
            <a:off x="6725728" y="5195977"/>
            <a:ext cx="3404558" cy="511834"/>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Explore Services</a:t>
            </a:r>
            <a:endParaRPr lang="en-IN" dirty="0"/>
          </a:p>
        </p:txBody>
      </p:sp>
    </p:spTree>
    <p:extLst>
      <p:ext uri="{BB962C8B-B14F-4D97-AF65-F5344CB8AC3E}">
        <p14:creationId xmlns:p14="http://schemas.microsoft.com/office/powerpoint/2010/main" val="41937694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2D0FA-BA8F-813D-4257-B8FEF5F75A4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E1CC785-6FF0-18A4-721E-F8AF8E407C3D}"/>
              </a:ext>
            </a:extLst>
          </p:cNvPr>
          <p:cNvSpPr txBox="1"/>
          <p:nvPr/>
        </p:nvSpPr>
        <p:spPr>
          <a:xfrm>
            <a:off x="776377" y="1000664"/>
            <a:ext cx="10765766" cy="954107"/>
          </a:xfrm>
          <a:prstGeom prst="rect">
            <a:avLst/>
          </a:prstGeom>
          <a:noFill/>
        </p:spPr>
        <p:txBody>
          <a:bodyPr wrap="square" rtlCol="0">
            <a:spAutoFit/>
          </a:bodyPr>
          <a:lstStyle/>
          <a:p>
            <a:r>
              <a:rPr lang="en-US" sz="1400" dirty="0"/>
              <a:t>At the heart of our practice is a commitment to providing thoughtful, personalized, and ethical guidance. We are deeply grateful for the trust our clients place in us and honored to have been a part of their journeys. The testimonials below reflect genuine experiences shared by individuals and businesses who have benefited from </a:t>
            </a:r>
            <a:r>
              <a:rPr lang="en-US" sz="1400" dirty="0" err="1"/>
              <a:t>Meenakshii’s</a:t>
            </a:r>
            <a:r>
              <a:rPr lang="en-US" sz="1400" dirty="0"/>
              <a:t> consultations.</a:t>
            </a:r>
          </a:p>
          <a:p>
            <a:endParaRPr lang="en-US" sz="1400" dirty="0"/>
          </a:p>
        </p:txBody>
      </p:sp>
      <p:sp>
        <p:nvSpPr>
          <p:cNvPr id="8" name="TextBox 7">
            <a:extLst>
              <a:ext uri="{FF2B5EF4-FFF2-40B4-BE49-F238E27FC236}">
                <a16:creationId xmlns:a16="http://schemas.microsoft.com/office/drawing/2014/main" id="{D51D9B0E-3CE7-2738-FBE6-E0F523ACBF6E}"/>
              </a:ext>
            </a:extLst>
          </p:cNvPr>
          <p:cNvSpPr txBox="1"/>
          <p:nvPr/>
        </p:nvSpPr>
        <p:spPr>
          <a:xfrm>
            <a:off x="793628" y="230038"/>
            <a:ext cx="9569571" cy="584775"/>
          </a:xfrm>
          <a:prstGeom prst="rect">
            <a:avLst/>
          </a:prstGeom>
          <a:noFill/>
        </p:spPr>
        <p:txBody>
          <a:bodyPr wrap="square" rtlCol="0">
            <a:spAutoFit/>
          </a:bodyPr>
          <a:lstStyle/>
          <a:p>
            <a:r>
              <a:rPr lang="en-US" sz="3200" b="1" dirty="0"/>
              <a:t>What our Clients Say </a:t>
            </a:r>
            <a:endParaRPr lang="en-IN" b="1" dirty="0"/>
          </a:p>
        </p:txBody>
      </p:sp>
    </p:spTree>
    <p:extLst>
      <p:ext uri="{BB962C8B-B14F-4D97-AF65-F5344CB8AC3E}">
        <p14:creationId xmlns:p14="http://schemas.microsoft.com/office/powerpoint/2010/main" val="3733430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E6BC4-3E05-6CE1-3E02-1017D9B1343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7169372-48A5-54FD-5365-FE516A3A42C5}"/>
              </a:ext>
            </a:extLst>
          </p:cNvPr>
          <p:cNvSpPr txBox="1"/>
          <p:nvPr/>
        </p:nvSpPr>
        <p:spPr>
          <a:xfrm>
            <a:off x="776377" y="1000664"/>
            <a:ext cx="10765766" cy="523220"/>
          </a:xfrm>
          <a:prstGeom prst="rect">
            <a:avLst/>
          </a:prstGeom>
          <a:noFill/>
        </p:spPr>
        <p:txBody>
          <a:bodyPr wrap="square" rtlCol="0">
            <a:spAutoFit/>
          </a:bodyPr>
          <a:lstStyle/>
          <a:p>
            <a:r>
              <a:rPr lang="en-US" sz="1400" dirty="0"/>
              <a:t>Clients will be required to fill in their basic details for booking the services. This data will be utilized towards preparation for consultation.</a:t>
            </a:r>
          </a:p>
          <a:p>
            <a:endParaRPr lang="en-US" sz="1400" dirty="0"/>
          </a:p>
        </p:txBody>
      </p:sp>
      <p:sp>
        <p:nvSpPr>
          <p:cNvPr id="8" name="TextBox 7">
            <a:extLst>
              <a:ext uri="{FF2B5EF4-FFF2-40B4-BE49-F238E27FC236}">
                <a16:creationId xmlns:a16="http://schemas.microsoft.com/office/drawing/2014/main" id="{0680A276-7738-C2CF-9B30-39083BFBCB04}"/>
              </a:ext>
            </a:extLst>
          </p:cNvPr>
          <p:cNvSpPr txBox="1"/>
          <p:nvPr/>
        </p:nvSpPr>
        <p:spPr>
          <a:xfrm>
            <a:off x="793628" y="230038"/>
            <a:ext cx="9569571" cy="584775"/>
          </a:xfrm>
          <a:prstGeom prst="rect">
            <a:avLst/>
          </a:prstGeom>
          <a:noFill/>
        </p:spPr>
        <p:txBody>
          <a:bodyPr wrap="square" rtlCol="0">
            <a:spAutoFit/>
          </a:bodyPr>
          <a:lstStyle/>
          <a:p>
            <a:r>
              <a:rPr lang="en-US" sz="3200" b="1" dirty="0"/>
              <a:t>Customer Data Form</a:t>
            </a:r>
            <a:endParaRPr lang="en-IN" b="1" dirty="0"/>
          </a:p>
        </p:txBody>
      </p:sp>
      <p:sp>
        <p:nvSpPr>
          <p:cNvPr id="3" name="TextBox 2">
            <a:extLst>
              <a:ext uri="{FF2B5EF4-FFF2-40B4-BE49-F238E27FC236}">
                <a16:creationId xmlns:a16="http://schemas.microsoft.com/office/drawing/2014/main" id="{C5769E12-34C6-9F66-0685-F96733040647}"/>
              </a:ext>
            </a:extLst>
          </p:cNvPr>
          <p:cNvSpPr txBox="1"/>
          <p:nvPr/>
        </p:nvSpPr>
        <p:spPr>
          <a:xfrm>
            <a:off x="793628" y="1523884"/>
            <a:ext cx="1811549" cy="3539430"/>
          </a:xfrm>
          <a:prstGeom prst="rect">
            <a:avLst/>
          </a:prstGeom>
          <a:noFill/>
        </p:spPr>
        <p:txBody>
          <a:bodyPr wrap="square" rtlCol="0">
            <a:spAutoFit/>
          </a:bodyPr>
          <a:lstStyle/>
          <a:p>
            <a:r>
              <a:rPr lang="en-US" sz="1400" dirty="0"/>
              <a:t>Name</a:t>
            </a:r>
          </a:p>
          <a:p>
            <a:endParaRPr lang="en-US" sz="1400" dirty="0"/>
          </a:p>
          <a:p>
            <a:r>
              <a:rPr lang="en-US" sz="1400" dirty="0"/>
              <a:t>Date of Birth</a:t>
            </a:r>
          </a:p>
          <a:p>
            <a:endParaRPr lang="en-US" sz="1400" dirty="0"/>
          </a:p>
          <a:p>
            <a:r>
              <a:rPr lang="en-US" sz="1400" dirty="0"/>
              <a:t>Location of Birth (City, State, Country)</a:t>
            </a:r>
          </a:p>
          <a:p>
            <a:endParaRPr lang="en-US" sz="1400" dirty="0"/>
          </a:p>
          <a:p>
            <a:r>
              <a:rPr lang="en-US" sz="1400" dirty="0"/>
              <a:t>Time of Birth (24-hour format)</a:t>
            </a:r>
          </a:p>
          <a:p>
            <a:endParaRPr lang="en-US" sz="1400" dirty="0"/>
          </a:p>
          <a:p>
            <a:r>
              <a:rPr lang="en-US" sz="1400" dirty="0"/>
              <a:t>Issues for which consultation is being sought</a:t>
            </a:r>
          </a:p>
          <a:p>
            <a:endParaRPr lang="en-US" sz="1400" dirty="0"/>
          </a:p>
          <a:p>
            <a:endParaRPr lang="en-US" sz="1400" dirty="0"/>
          </a:p>
          <a:p>
            <a:endParaRPr lang="en-US" sz="1400" dirty="0"/>
          </a:p>
        </p:txBody>
      </p:sp>
      <p:sp>
        <p:nvSpPr>
          <p:cNvPr id="5" name="Rectangle 4">
            <a:extLst>
              <a:ext uri="{FF2B5EF4-FFF2-40B4-BE49-F238E27FC236}">
                <a16:creationId xmlns:a16="http://schemas.microsoft.com/office/drawing/2014/main" id="{E2731BAC-107D-B83B-C02C-CECEB2CA21D6}"/>
              </a:ext>
            </a:extLst>
          </p:cNvPr>
          <p:cNvSpPr/>
          <p:nvPr/>
        </p:nvSpPr>
        <p:spPr>
          <a:xfrm>
            <a:off x="3019245" y="1523884"/>
            <a:ext cx="2409646" cy="24740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7" name="Rectangle 6">
            <a:extLst>
              <a:ext uri="{FF2B5EF4-FFF2-40B4-BE49-F238E27FC236}">
                <a16:creationId xmlns:a16="http://schemas.microsoft.com/office/drawing/2014/main" id="{D4639050-7254-9816-E954-5C2D9252C117}"/>
              </a:ext>
            </a:extLst>
          </p:cNvPr>
          <p:cNvSpPr/>
          <p:nvPr/>
        </p:nvSpPr>
        <p:spPr>
          <a:xfrm>
            <a:off x="3019245" y="2070943"/>
            <a:ext cx="2409646" cy="24740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2" name="Rectangle 11">
            <a:extLst>
              <a:ext uri="{FF2B5EF4-FFF2-40B4-BE49-F238E27FC236}">
                <a16:creationId xmlns:a16="http://schemas.microsoft.com/office/drawing/2014/main" id="{8B3ABE95-A4F6-0A05-C1C6-332B5BFFA982}"/>
              </a:ext>
            </a:extLst>
          </p:cNvPr>
          <p:cNvSpPr/>
          <p:nvPr/>
        </p:nvSpPr>
        <p:spPr>
          <a:xfrm>
            <a:off x="3019245" y="2618002"/>
            <a:ext cx="2409646" cy="24740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4" name="Rectangle 13">
            <a:extLst>
              <a:ext uri="{FF2B5EF4-FFF2-40B4-BE49-F238E27FC236}">
                <a16:creationId xmlns:a16="http://schemas.microsoft.com/office/drawing/2014/main" id="{F0BC4BD2-604A-6E4E-3704-293F84D10CCF}"/>
              </a:ext>
            </a:extLst>
          </p:cNvPr>
          <p:cNvSpPr/>
          <p:nvPr/>
        </p:nvSpPr>
        <p:spPr>
          <a:xfrm>
            <a:off x="3019245" y="3165061"/>
            <a:ext cx="2409646" cy="24740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6" name="Rectangle 15">
            <a:extLst>
              <a:ext uri="{FF2B5EF4-FFF2-40B4-BE49-F238E27FC236}">
                <a16:creationId xmlns:a16="http://schemas.microsoft.com/office/drawing/2014/main" id="{AAC9C195-99E2-FD79-4C8C-6F8AA9F45BD6}"/>
              </a:ext>
            </a:extLst>
          </p:cNvPr>
          <p:cNvSpPr/>
          <p:nvPr/>
        </p:nvSpPr>
        <p:spPr>
          <a:xfrm>
            <a:off x="3030747" y="3712119"/>
            <a:ext cx="2409646" cy="162199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8" name="TextBox 17">
            <a:extLst>
              <a:ext uri="{FF2B5EF4-FFF2-40B4-BE49-F238E27FC236}">
                <a16:creationId xmlns:a16="http://schemas.microsoft.com/office/drawing/2014/main" id="{5D2A0D2F-1B85-88A4-5CF4-5C89BF8C276E}"/>
              </a:ext>
            </a:extLst>
          </p:cNvPr>
          <p:cNvSpPr txBox="1"/>
          <p:nvPr/>
        </p:nvSpPr>
        <p:spPr>
          <a:xfrm>
            <a:off x="1863306" y="5657281"/>
            <a:ext cx="4744528" cy="400110"/>
          </a:xfrm>
          <a:prstGeom prst="rect">
            <a:avLst/>
          </a:prstGeom>
          <a:noFill/>
        </p:spPr>
        <p:txBody>
          <a:bodyPr wrap="square">
            <a:spAutoFit/>
          </a:bodyPr>
          <a:lstStyle/>
          <a:p>
            <a:pPr algn="ctr"/>
            <a:r>
              <a:rPr lang="en-IN" sz="1000" dirty="0"/>
              <a:t>By submitting this form, you agree to share your details for consultation purposes. Your information will be used in accordance with our Privacy Policy.</a:t>
            </a:r>
          </a:p>
        </p:txBody>
      </p:sp>
      <p:sp>
        <p:nvSpPr>
          <p:cNvPr id="19" name="Rectangle 18">
            <a:extLst>
              <a:ext uri="{FF2B5EF4-FFF2-40B4-BE49-F238E27FC236}">
                <a16:creationId xmlns:a16="http://schemas.microsoft.com/office/drawing/2014/main" id="{6A4184CE-F12A-64E3-48D6-9BB2D80EC533}"/>
              </a:ext>
            </a:extLst>
          </p:cNvPr>
          <p:cNvSpPr/>
          <p:nvPr/>
        </p:nvSpPr>
        <p:spPr>
          <a:xfrm>
            <a:off x="1477993" y="5696309"/>
            <a:ext cx="149524" cy="1610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1" name="Rectangle: Rounded Corners 20">
            <a:extLst>
              <a:ext uri="{FF2B5EF4-FFF2-40B4-BE49-F238E27FC236}">
                <a16:creationId xmlns:a16="http://schemas.microsoft.com/office/drawing/2014/main" id="{10CF049E-77CC-F1CE-E762-AE9474C36293}"/>
              </a:ext>
            </a:extLst>
          </p:cNvPr>
          <p:cNvSpPr/>
          <p:nvPr/>
        </p:nvSpPr>
        <p:spPr>
          <a:xfrm>
            <a:off x="3408872" y="6260099"/>
            <a:ext cx="1630392" cy="240913"/>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Submit</a:t>
            </a:r>
            <a:endParaRPr lang="en-IN" sz="1200" dirty="0"/>
          </a:p>
        </p:txBody>
      </p:sp>
    </p:spTree>
    <p:extLst>
      <p:ext uri="{BB962C8B-B14F-4D97-AF65-F5344CB8AC3E}">
        <p14:creationId xmlns:p14="http://schemas.microsoft.com/office/powerpoint/2010/main" val="34098532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55B81-2666-0FDC-E544-311CBB1A360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FFAFF98-1B36-CD0F-4A47-94476675687A}"/>
              </a:ext>
            </a:extLst>
          </p:cNvPr>
          <p:cNvSpPr txBox="1"/>
          <p:nvPr/>
        </p:nvSpPr>
        <p:spPr>
          <a:xfrm>
            <a:off x="776377" y="1000664"/>
            <a:ext cx="10765766" cy="5355312"/>
          </a:xfrm>
          <a:prstGeom prst="rect">
            <a:avLst/>
          </a:prstGeom>
          <a:noFill/>
        </p:spPr>
        <p:txBody>
          <a:bodyPr wrap="square" rtlCol="0">
            <a:spAutoFit/>
          </a:bodyPr>
          <a:lstStyle/>
          <a:p>
            <a:pPr marL="228600" indent="-228600">
              <a:buAutoNum type="arabicPeriod"/>
            </a:pPr>
            <a:r>
              <a:rPr lang="en-US" sz="900" dirty="0"/>
              <a:t>What services does Meenakshii offer?</a:t>
            </a:r>
          </a:p>
          <a:p>
            <a:r>
              <a:rPr lang="en-US" sz="900" dirty="0"/>
              <a:t>Meenakshii offers personalized consultations in Vedic Astrology, Numerology, Vastu Shastra, Rune Card Reading, Karma Alignment, Swar Vigyan, Graphology, and other traditional metaphysical sciences.</a:t>
            </a:r>
          </a:p>
          <a:p>
            <a:endParaRPr lang="en-US" sz="900" dirty="0"/>
          </a:p>
          <a:p>
            <a:r>
              <a:rPr lang="en-US" sz="900" dirty="0"/>
              <a:t>2. How do I book a consultation? </a:t>
            </a:r>
          </a:p>
          <a:p>
            <a:r>
              <a:rPr lang="en-US" sz="900" dirty="0"/>
              <a:t>Click on Book Consultation, complete the consultation form with the required details, and make the payment. Your appointment will be confirmed once the booking process is completed.</a:t>
            </a:r>
          </a:p>
          <a:p>
            <a:endParaRPr lang="en-US" sz="900" dirty="0"/>
          </a:p>
          <a:p>
            <a:r>
              <a:rPr lang="en-US" sz="900" dirty="0"/>
              <a:t>3. Why is my appointment scheduled 4–5 days after booking? </a:t>
            </a:r>
          </a:p>
          <a:p>
            <a:r>
              <a:rPr lang="en-US" sz="900" dirty="0"/>
              <a:t>Every consultation is personally prepared by Meenakshii. This preparation period allows for a detailed analysis of your birth details, concerns, and other relevant information, ensuring a meaningful and personalized consultation.</a:t>
            </a:r>
          </a:p>
          <a:p>
            <a:endParaRPr lang="en-US" sz="900" dirty="0"/>
          </a:p>
          <a:p>
            <a:r>
              <a:rPr lang="en-US" sz="900" dirty="0"/>
              <a:t>4. What information do I need to provide? </a:t>
            </a:r>
          </a:p>
          <a:p>
            <a:r>
              <a:rPr lang="en-US" sz="900" dirty="0"/>
              <a:t>You will be asked to provide your name, contact details, date of birth, time of birth, place of birth, and a brief description of the areas where you seek guidance.</a:t>
            </a:r>
          </a:p>
          <a:p>
            <a:endParaRPr lang="en-US" sz="900" dirty="0"/>
          </a:p>
          <a:p>
            <a:r>
              <a:rPr lang="en-US" sz="900" dirty="0"/>
              <a:t>5. What if I don’t know my exact birth time? </a:t>
            </a:r>
          </a:p>
          <a:p>
            <a:r>
              <a:rPr lang="en-US" sz="900" dirty="0"/>
              <a:t>An accurate birth time is ideal for astrological analysis. If you are unsure of your birth time, please mention this while booking. Depending on your consultation requirements, alternative methods or suitable guidance may be suggested.</a:t>
            </a:r>
          </a:p>
          <a:p>
            <a:endParaRPr lang="en-US" sz="900" dirty="0"/>
          </a:p>
          <a:p>
            <a:r>
              <a:rPr lang="en-US" sz="900" dirty="0"/>
              <a:t>6. How long does a consultation last? </a:t>
            </a:r>
          </a:p>
          <a:p>
            <a:r>
              <a:rPr lang="en-US" sz="900" dirty="0"/>
              <a:t>Most consultations last approximately 60 minutes or longer, depending on the nature of your concerns and the discussion during the session.</a:t>
            </a:r>
          </a:p>
          <a:p>
            <a:endParaRPr lang="en-US" sz="900" dirty="0"/>
          </a:p>
          <a:p>
            <a:r>
              <a:rPr lang="en-US" sz="900" dirty="0"/>
              <a:t>7. How should I prepare for my consultation? </a:t>
            </a:r>
          </a:p>
          <a:p>
            <a:r>
              <a:rPr lang="en-US" sz="900" dirty="0"/>
              <a:t>Before your appointment, take a few moments to note down the questions or areas you would like to discuss. This helps ensure that your consultation is focused and productive.</a:t>
            </a:r>
          </a:p>
          <a:p>
            <a:endParaRPr lang="en-US" sz="900" dirty="0"/>
          </a:p>
          <a:p>
            <a:r>
              <a:rPr lang="en-US" sz="900" dirty="0"/>
              <a:t>8. Will I receive a report after the consultation? Yes. </a:t>
            </a:r>
          </a:p>
          <a:p>
            <a:r>
              <a:rPr lang="en-US" sz="900" dirty="0"/>
              <a:t>After your consultation, you will receive a personalized report containing the guidance, recommended remedies, and key points discussed during your session.</a:t>
            </a:r>
          </a:p>
          <a:p>
            <a:endParaRPr lang="en-US" sz="900" dirty="0"/>
          </a:p>
          <a:p>
            <a:r>
              <a:rPr lang="en-US" sz="900" dirty="0"/>
              <a:t>9. Do you provide post-consultation support? Yes. Every consultation includes 15 days of post-consultation support to clarify questions related to the guidance and remedies recommended during your consultation.</a:t>
            </a:r>
          </a:p>
          <a:p>
            <a:endParaRPr lang="en-US" sz="900" dirty="0"/>
          </a:p>
          <a:p>
            <a:r>
              <a:rPr lang="en-US" sz="900" dirty="0"/>
              <a:t>10. Are the consultations confidential?</a:t>
            </a:r>
          </a:p>
          <a:p>
            <a:r>
              <a:rPr lang="en-US" sz="900" dirty="0"/>
              <a:t>Absolutely. All personal information, consultation discussions, reports, and recommendations are treated with the highest level of confidentiality.</a:t>
            </a:r>
          </a:p>
          <a:p>
            <a:endParaRPr lang="en-US" sz="900" dirty="0"/>
          </a:p>
          <a:p>
            <a:r>
              <a:rPr lang="en-US" sz="900" dirty="0"/>
              <a:t>11. Are the remedies compulsory? </a:t>
            </a:r>
          </a:p>
          <a:p>
            <a:r>
              <a:rPr lang="en-US" sz="900" dirty="0"/>
              <a:t>No. Remedies are recommended as supportive spiritual practices. Following them is entirely your personal choice.</a:t>
            </a:r>
          </a:p>
          <a:p>
            <a:endParaRPr lang="en-US" sz="900" dirty="0"/>
          </a:p>
          <a:p>
            <a:r>
              <a:rPr lang="en-US" sz="900" dirty="0"/>
              <a:t>12. Can you guarantee specific results? </a:t>
            </a:r>
          </a:p>
          <a:p>
            <a:r>
              <a:rPr lang="en-US" sz="900" dirty="0"/>
              <a:t>No. Astrology, Numerology, Vastu Shastra, and other metaphysical sciences provide guidance based on established principles and professional interpretation. As every individual and situation is unique, no specific outcome or result can be guaranteed.</a:t>
            </a:r>
          </a:p>
          <a:p>
            <a:endParaRPr lang="en-IN" sz="900" dirty="0"/>
          </a:p>
        </p:txBody>
      </p:sp>
      <p:sp>
        <p:nvSpPr>
          <p:cNvPr id="8" name="TextBox 7">
            <a:extLst>
              <a:ext uri="{FF2B5EF4-FFF2-40B4-BE49-F238E27FC236}">
                <a16:creationId xmlns:a16="http://schemas.microsoft.com/office/drawing/2014/main" id="{C07EAF89-9E02-6908-71CC-A7982A53FEC1}"/>
              </a:ext>
            </a:extLst>
          </p:cNvPr>
          <p:cNvSpPr txBox="1"/>
          <p:nvPr/>
        </p:nvSpPr>
        <p:spPr>
          <a:xfrm>
            <a:off x="793628" y="230038"/>
            <a:ext cx="9569571" cy="584775"/>
          </a:xfrm>
          <a:prstGeom prst="rect">
            <a:avLst/>
          </a:prstGeom>
          <a:noFill/>
        </p:spPr>
        <p:txBody>
          <a:bodyPr wrap="square" rtlCol="0">
            <a:spAutoFit/>
          </a:bodyPr>
          <a:lstStyle/>
          <a:p>
            <a:r>
              <a:rPr lang="en-US" sz="3200" b="1" dirty="0"/>
              <a:t>FAQs</a:t>
            </a:r>
            <a:endParaRPr lang="en-IN" b="1" dirty="0"/>
          </a:p>
        </p:txBody>
      </p:sp>
    </p:spTree>
    <p:extLst>
      <p:ext uri="{BB962C8B-B14F-4D97-AF65-F5344CB8AC3E}">
        <p14:creationId xmlns:p14="http://schemas.microsoft.com/office/powerpoint/2010/main" val="35944435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914C4-9B7F-AA31-38B6-05EA87991AE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BDA09F0-8F63-6B17-6A34-E2E3EF4891AB}"/>
              </a:ext>
            </a:extLst>
          </p:cNvPr>
          <p:cNvSpPr txBox="1"/>
          <p:nvPr/>
        </p:nvSpPr>
        <p:spPr>
          <a:xfrm>
            <a:off x="776377" y="1000664"/>
            <a:ext cx="10765766" cy="4385816"/>
          </a:xfrm>
          <a:prstGeom prst="rect">
            <a:avLst/>
          </a:prstGeom>
          <a:noFill/>
        </p:spPr>
        <p:txBody>
          <a:bodyPr wrap="square" rtlCol="0">
            <a:spAutoFit/>
          </a:bodyPr>
          <a:lstStyle/>
          <a:p>
            <a:r>
              <a:rPr lang="en-US" sz="900" dirty="0"/>
              <a:t>13. Can I consult Meenakshii for business-related matters? </a:t>
            </a:r>
          </a:p>
          <a:p>
            <a:r>
              <a:rPr lang="en-US" sz="900" dirty="0"/>
              <a:t>Yes. Meenakshii regularly guides entrepreneurs, professionals, and business owners on matters related to business growth, branding, partnerships, career, finances, and strategic decision-making.</a:t>
            </a:r>
          </a:p>
          <a:p>
            <a:endParaRPr lang="en-US" sz="900" dirty="0"/>
          </a:p>
          <a:p>
            <a:r>
              <a:rPr lang="en-US" sz="900" dirty="0"/>
              <a:t>14. Can I book a consultation for a family member? </a:t>
            </a:r>
          </a:p>
          <a:p>
            <a:r>
              <a:rPr lang="en-US" sz="900" dirty="0"/>
              <a:t>Yes. However, it is recommended that the individual being consulted is aware of and consents to the consultation. Accurate personal details are essential for meaningful guidance.</a:t>
            </a:r>
          </a:p>
          <a:p>
            <a:endParaRPr lang="en-US" sz="900" dirty="0"/>
          </a:p>
          <a:p>
            <a:r>
              <a:rPr lang="en-US" sz="900" dirty="0"/>
              <a:t>15. Are online consultations available? </a:t>
            </a:r>
          </a:p>
          <a:p>
            <a:r>
              <a:rPr lang="en-US" sz="900" dirty="0"/>
              <a:t>Yes. Consultations are conducted online, allowing clients from anywhere in the world to receive personalized guidance from the comfort of their home or office.</a:t>
            </a:r>
          </a:p>
          <a:p>
            <a:endParaRPr lang="en-US" sz="900" dirty="0"/>
          </a:p>
          <a:p>
            <a:r>
              <a:rPr lang="en-US" sz="900" dirty="0"/>
              <a:t>16. Which consultation is right for me? </a:t>
            </a:r>
          </a:p>
          <a:p>
            <a:r>
              <a:rPr lang="en-US" sz="900" dirty="0"/>
              <a:t>If you are unsure which service best suits your needs, simply contact us before booking. We will be happy to guide you toward the most appropriate consultation.</a:t>
            </a:r>
          </a:p>
          <a:p>
            <a:endParaRPr lang="en-US" sz="900" dirty="0"/>
          </a:p>
          <a:p>
            <a:r>
              <a:rPr lang="en-US" sz="900" dirty="0"/>
              <a:t>17. Do you offer priority or urgent appointments? Priority appointments may be available depending on </a:t>
            </a:r>
            <a:r>
              <a:rPr lang="en-US" sz="900" dirty="0" err="1"/>
              <a:t>Meenakshii’s</a:t>
            </a:r>
            <a:r>
              <a:rPr lang="en-US" sz="900" dirty="0"/>
              <a:t> schedule. Please contact us to check current availability.</a:t>
            </a:r>
          </a:p>
          <a:p>
            <a:endParaRPr lang="en-US" sz="900" dirty="0"/>
          </a:p>
          <a:p>
            <a:r>
              <a:rPr lang="en-US" sz="900" dirty="0"/>
              <a:t>18. Which languages are consultations available in? </a:t>
            </a:r>
          </a:p>
          <a:p>
            <a:r>
              <a:rPr lang="en-US" sz="900" dirty="0"/>
              <a:t>Consultations are available in English and Hindi, ensuring clear and comfortable communication for a wide range of clients.</a:t>
            </a:r>
          </a:p>
          <a:p>
            <a:endParaRPr lang="en-US" sz="900" dirty="0"/>
          </a:p>
          <a:p>
            <a:r>
              <a:rPr lang="en-US" sz="900" dirty="0"/>
              <a:t>19. What payment methods do you accept?</a:t>
            </a:r>
          </a:p>
          <a:p>
            <a:r>
              <a:rPr lang="en-US" sz="900" dirty="0"/>
              <a:t>We accept secure online payments through the payment methods displayed during the booking process.</a:t>
            </a:r>
          </a:p>
          <a:p>
            <a:endParaRPr lang="en-US" sz="900" dirty="0"/>
          </a:p>
          <a:p>
            <a:r>
              <a:rPr lang="en-US" sz="900" dirty="0"/>
              <a:t>20. Can I reschedule my appointment? </a:t>
            </a:r>
          </a:p>
          <a:p>
            <a:r>
              <a:rPr lang="en-US" sz="900" dirty="0"/>
              <a:t>Yes. Rescheduling requests may be accommodated if made with adequate advance notice and are subject to appointment availability.</a:t>
            </a:r>
          </a:p>
          <a:p>
            <a:endParaRPr lang="en-US" sz="900" dirty="0"/>
          </a:p>
          <a:p>
            <a:r>
              <a:rPr lang="en-US" sz="900" dirty="0"/>
              <a:t>21. What is your refund policy?</a:t>
            </a:r>
          </a:p>
          <a:p>
            <a:r>
              <a:rPr lang="en-US" sz="900" dirty="0"/>
              <a:t>As every consultation involves dedicated preparation before the scheduled appointment, consultation fees are generally non-refundable once the booking has been confirmed. Please refer to our Refund &amp; Cancellation Policy for complete details.</a:t>
            </a:r>
          </a:p>
          <a:p>
            <a:endParaRPr lang="en-US" sz="900" dirty="0"/>
          </a:p>
          <a:p>
            <a:r>
              <a:rPr lang="en-US" sz="900" dirty="0"/>
              <a:t>22. Do you offer consultation packages? Yes. Depending on your requirements, consultation packages may be available for individuals, families, or businesses. Please contact us for more information.</a:t>
            </a:r>
          </a:p>
          <a:p>
            <a:endParaRPr lang="en-US" sz="900" dirty="0"/>
          </a:p>
          <a:p>
            <a:r>
              <a:rPr lang="en-US" sz="900" dirty="0"/>
              <a:t>23. Are your services a substitute for medical, legal, or financial advice? No. The guidance provided is spiritual and advisory in nature and should not be considered a substitute for professional medical, legal, financial, or psychological advice. Clients are encouraged to seek qualified professional assistance whenever appropriate.</a:t>
            </a:r>
            <a:endParaRPr lang="en-IN" sz="900" dirty="0"/>
          </a:p>
        </p:txBody>
      </p:sp>
      <p:sp>
        <p:nvSpPr>
          <p:cNvPr id="8" name="TextBox 7">
            <a:extLst>
              <a:ext uri="{FF2B5EF4-FFF2-40B4-BE49-F238E27FC236}">
                <a16:creationId xmlns:a16="http://schemas.microsoft.com/office/drawing/2014/main" id="{2F71FAFE-F613-2B84-385D-CAFC9A7E94BF}"/>
              </a:ext>
            </a:extLst>
          </p:cNvPr>
          <p:cNvSpPr txBox="1"/>
          <p:nvPr/>
        </p:nvSpPr>
        <p:spPr>
          <a:xfrm>
            <a:off x="793628" y="230038"/>
            <a:ext cx="9569571" cy="584775"/>
          </a:xfrm>
          <a:prstGeom prst="rect">
            <a:avLst/>
          </a:prstGeom>
          <a:noFill/>
        </p:spPr>
        <p:txBody>
          <a:bodyPr wrap="square" rtlCol="0">
            <a:spAutoFit/>
          </a:bodyPr>
          <a:lstStyle/>
          <a:p>
            <a:r>
              <a:rPr lang="en-US" sz="3200" b="1" dirty="0"/>
              <a:t>FAQs</a:t>
            </a:r>
            <a:endParaRPr lang="en-IN" b="1" dirty="0"/>
          </a:p>
        </p:txBody>
      </p:sp>
    </p:spTree>
    <p:extLst>
      <p:ext uri="{BB962C8B-B14F-4D97-AF65-F5344CB8AC3E}">
        <p14:creationId xmlns:p14="http://schemas.microsoft.com/office/powerpoint/2010/main" val="13240134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B6A13-F74B-1410-CA71-A7B758D8479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5AA7BAC-5D64-8110-4419-B832061451F5}"/>
              </a:ext>
            </a:extLst>
          </p:cNvPr>
          <p:cNvSpPr txBox="1"/>
          <p:nvPr/>
        </p:nvSpPr>
        <p:spPr>
          <a:xfrm>
            <a:off x="776377" y="1000664"/>
            <a:ext cx="10765766" cy="5447645"/>
          </a:xfrm>
          <a:prstGeom prst="rect">
            <a:avLst/>
          </a:prstGeom>
          <a:noFill/>
        </p:spPr>
        <p:txBody>
          <a:bodyPr wrap="square" rtlCol="0">
            <a:spAutoFit/>
          </a:bodyPr>
          <a:lstStyle/>
          <a:p>
            <a:r>
              <a:rPr lang="en-US" sz="1200" dirty="0"/>
              <a:t>At Meenakshii, every consultation is guided by the principles of integrity, respect, and responsibility. Our commitment is to provide sincere, ethical, and professional guidance while honoring the trust placed in us by every client.</a:t>
            </a:r>
          </a:p>
          <a:p>
            <a:endParaRPr lang="en-US" sz="1200" dirty="0"/>
          </a:p>
          <a:p>
            <a:r>
              <a:rPr lang="en-US" sz="1200" b="1" dirty="0"/>
              <a:t>Integrity </a:t>
            </a:r>
            <a:r>
              <a:rPr lang="en-US" sz="1200" dirty="0"/>
              <a:t>: Every consultation is conducted with honesty, authenticity, and the highest professional standards. Guidance is offered in good faith, based on traditional knowledge, experience, and careful analysis.</a:t>
            </a:r>
          </a:p>
          <a:p>
            <a:endParaRPr lang="en-US" sz="1200" dirty="0"/>
          </a:p>
          <a:p>
            <a:r>
              <a:rPr lang="en-US" sz="1200" b="1" dirty="0"/>
              <a:t>Confidentiality </a:t>
            </a:r>
            <a:r>
              <a:rPr lang="en-US" sz="1200" dirty="0"/>
              <a:t>: All personal information, consultation discussions, reports, and recommendations are treated with the utmost confidentiality. Your privacy and trust are respected at every stage of the consultation process.</a:t>
            </a:r>
          </a:p>
          <a:p>
            <a:endParaRPr lang="en-US" sz="1200" dirty="0"/>
          </a:p>
          <a:p>
            <a:r>
              <a:rPr lang="en-US" sz="1200" b="1" dirty="0"/>
              <a:t>Personalized</a:t>
            </a:r>
            <a:r>
              <a:rPr lang="en-US" sz="1200" dirty="0"/>
              <a:t> </a:t>
            </a:r>
            <a:r>
              <a:rPr lang="en-US" sz="1200" b="1" dirty="0"/>
              <a:t>Guidance </a:t>
            </a:r>
            <a:r>
              <a:rPr lang="en-US" sz="1200" dirty="0"/>
              <a:t>: Every individual is unique. Recommendations and remedies are tailored to your specific circumstances rather than based on generic interpretations or standardized advice.</a:t>
            </a:r>
          </a:p>
          <a:p>
            <a:endParaRPr lang="en-US" sz="1200" dirty="0"/>
          </a:p>
          <a:p>
            <a:r>
              <a:rPr lang="en-US" sz="1200" b="1" dirty="0"/>
              <a:t>Respect &amp; Compassion </a:t>
            </a:r>
            <a:r>
              <a:rPr lang="en-US" sz="1200" dirty="0"/>
              <a:t>: Every client is treated with dignity, empathy, and respect, regardless of age, gender, nationality, religion, culture, or personal beliefs. We strive to create a safe and supportive environment for open and meaningful conversations. </a:t>
            </a:r>
          </a:p>
          <a:p>
            <a:endParaRPr lang="en-US" sz="1200" dirty="0"/>
          </a:p>
          <a:p>
            <a:r>
              <a:rPr lang="en-US" sz="1200" b="1" dirty="0"/>
              <a:t>Responsible Recommendations</a:t>
            </a:r>
            <a:r>
              <a:rPr lang="en-US" sz="1200" dirty="0"/>
              <a:t> : Remedies and guidance are suggested with the intention of supporting your personal growth and well-being. They are offered as complementary spiritual practices and should not be considered a substitute for professional medical, legal, financial, or psychological advice.</a:t>
            </a:r>
          </a:p>
          <a:p>
            <a:endParaRPr lang="en-US" sz="1200" dirty="0"/>
          </a:p>
          <a:p>
            <a:r>
              <a:rPr lang="en-US" sz="1200" b="1" dirty="0"/>
              <a:t>Transparency </a:t>
            </a:r>
            <a:r>
              <a:rPr lang="en-US" sz="1200" dirty="0"/>
              <a:t>: Consultation fees, services, and processes are communicated clearly before booking. We do not knowingly make false promises, guarantee specific outcomes, or encourage unrealistic expectations.</a:t>
            </a:r>
          </a:p>
          <a:p>
            <a:endParaRPr lang="en-US" sz="1200" dirty="0"/>
          </a:p>
          <a:p>
            <a:r>
              <a:rPr lang="en-US" sz="1200" b="1" dirty="0"/>
              <a:t>Client Empowerment </a:t>
            </a:r>
            <a:r>
              <a:rPr lang="en-US" sz="1200" dirty="0"/>
              <a:t>:</a:t>
            </a:r>
            <a:r>
              <a:rPr lang="en-US" sz="1200" b="1" dirty="0"/>
              <a:t> </a:t>
            </a:r>
            <a:r>
              <a:rPr lang="en-US" sz="1200" dirty="0"/>
              <a:t>The purpose of every consultation is to help clients gain clarity, confidence, and a deeper understanding of their circumstances. We encourage informed decision-making while respecting each individual’s free will and personal responsibility.</a:t>
            </a:r>
          </a:p>
          <a:p>
            <a:endParaRPr lang="en-US" sz="1200" dirty="0"/>
          </a:p>
          <a:p>
            <a:r>
              <a:rPr lang="en-US" sz="1200" b="1" dirty="0"/>
              <a:t>Continuous Learning </a:t>
            </a:r>
            <a:r>
              <a:rPr lang="en-US" sz="1200" dirty="0"/>
              <a:t>: Meenakshii remains committed to the ongoing study and responsible practice of Astrology, Numerology, Vastu Shastra, and other traditional metaphysical sciences, continually refining her knowledge to better serve clients.</a:t>
            </a:r>
          </a:p>
          <a:p>
            <a:endParaRPr lang="en-US" sz="1200" dirty="0"/>
          </a:p>
          <a:p>
            <a:r>
              <a:rPr lang="en-US" sz="1200" b="1" dirty="0"/>
              <a:t>Our Commitment </a:t>
            </a:r>
            <a:r>
              <a:rPr lang="en-US" sz="1200" dirty="0"/>
              <a:t>: We are dedicated to providing every client with thoughtful guidance, ethical conduct, and a professional consultation experience founded on trust, compassion, and respect.</a:t>
            </a:r>
            <a:endParaRPr lang="en-IN" sz="1200" dirty="0"/>
          </a:p>
        </p:txBody>
      </p:sp>
      <p:sp>
        <p:nvSpPr>
          <p:cNvPr id="8" name="TextBox 7">
            <a:extLst>
              <a:ext uri="{FF2B5EF4-FFF2-40B4-BE49-F238E27FC236}">
                <a16:creationId xmlns:a16="http://schemas.microsoft.com/office/drawing/2014/main" id="{B6B67683-5658-88D2-F280-231B61CEF331}"/>
              </a:ext>
            </a:extLst>
          </p:cNvPr>
          <p:cNvSpPr txBox="1"/>
          <p:nvPr/>
        </p:nvSpPr>
        <p:spPr>
          <a:xfrm>
            <a:off x="793628" y="230038"/>
            <a:ext cx="9569571" cy="584775"/>
          </a:xfrm>
          <a:prstGeom prst="rect">
            <a:avLst/>
          </a:prstGeom>
          <a:noFill/>
        </p:spPr>
        <p:txBody>
          <a:bodyPr wrap="square" rtlCol="0">
            <a:spAutoFit/>
          </a:bodyPr>
          <a:lstStyle/>
          <a:p>
            <a:r>
              <a:rPr lang="en-US" sz="3200" b="1" dirty="0"/>
              <a:t>Code of Ethics</a:t>
            </a:r>
            <a:endParaRPr lang="en-IN" b="1" dirty="0"/>
          </a:p>
        </p:txBody>
      </p:sp>
    </p:spTree>
    <p:extLst>
      <p:ext uri="{BB962C8B-B14F-4D97-AF65-F5344CB8AC3E}">
        <p14:creationId xmlns:p14="http://schemas.microsoft.com/office/powerpoint/2010/main" val="23120006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21264-5A63-C4B2-9749-F264423847B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B2A1C30-2DBC-D2B3-63D3-50F2D690A1C7}"/>
              </a:ext>
            </a:extLst>
          </p:cNvPr>
          <p:cNvSpPr txBox="1"/>
          <p:nvPr/>
        </p:nvSpPr>
        <p:spPr>
          <a:xfrm>
            <a:off x="776377" y="1000664"/>
            <a:ext cx="10765766" cy="4185761"/>
          </a:xfrm>
          <a:prstGeom prst="rect">
            <a:avLst/>
          </a:prstGeom>
          <a:noFill/>
        </p:spPr>
        <p:txBody>
          <a:bodyPr wrap="square" rtlCol="0">
            <a:spAutoFit/>
          </a:bodyPr>
          <a:lstStyle/>
          <a:p>
            <a:r>
              <a:rPr lang="en-US" sz="1400" dirty="0"/>
              <a:t>The consultations and guidance provided by Meenakshii are based on the principles and interpretations of Vedic Astrology, Numerology, Vastu Shastra, and other traditional metaphysical sciences, together with her professional knowledge, study, experience, and intuitive understanding developed over the years. These services are intended to offer spiritual guidance, personal insight, and a broader perspective to support informed decision-making. </a:t>
            </a:r>
          </a:p>
          <a:p>
            <a:endParaRPr lang="en-US" sz="1400" dirty="0"/>
          </a:p>
          <a:p>
            <a:r>
              <a:rPr lang="en-US" sz="1400" dirty="0"/>
              <a:t>Every consultation is personalized and represents </a:t>
            </a:r>
            <a:r>
              <a:rPr lang="en-US" sz="1400" dirty="0" err="1"/>
              <a:t>Meenakshii’s</a:t>
            </a:r>
            <a:r>
              <a:rPr lang="en-US" sz="1400" dirty="0"/>
              <a:t> sincere professional opinion based on the information provided by the client and the methodologies applied. As these disciplines involve interpretation and individual circumstances may vary, no prediction, guidance, remedy, or recommendation should be construed as a guarantee, warranty, or assurance of any specific outcome or result. The effectiveness of remedies and recommendations may differ from person to person depending on individual circumstances, beliefs, effort, and other factors beyond our control. </a:t>
            </a:r>
          </a:p>
          <a:p>
            <a:endParaRPr lang="en-US" sz="1400" dirty="0"/>
          </a:p>
          <a:p>
            <a:r>
              <a:rPr lang="en-US" sz="1400" dirty="0"/>
              <a:t>Clients are encouraged to exercise their own judgment and discretion while making personal, financial, legal, medical, business, or other important decisions. Where appropriate, independent advice from qualified professionals such as medical practitioners, legal advisors, financial consultants, or other licensed experts should be sought. </a:t>
            </a:r>
          </a:p>
          <a:p>
            <a:endParaRPr lang="en-US" sz="1400" dirty="0"/>
          </a:p>
          <a:p>
            <a:r>
              <a:rPr lang="en-US" sz="1400" dirty="0"/>
              <a:t>By booking a consultation or using this website, you acknowledge that the guidance provided is advisory in nature, accept full responsibility for your own decisions and actions, and agree that Meenakshii and her associates shall not be held liable for any direct, indirect, incidental, or consequential loss, damage, or claim arising from the use of the consultation, recommendations, remedies, or information provided through this website or during any consultation.</a:t>
            </a:r>
            <a:endParaRPr lang="en-IN" sz="1400" dirty="0"/>
          </a:p>
        </p:txBody>
      </p:sp>
      <p:sp>
        <p:nvSpPr>
          <p:cNvPr id="8" name="TextBox 7">
            <a:extLst>
              <a:ext uri="{FF2B5EF4-FFF2-40B4-BE49-F238E27FC236}">
                <a16:creationId xmlns:a16="http://schemas.microsoft.com/office/drawing/2014/main" id="{6E857347-B042-3633-C9FB-CD27A9806813}"/>
              </a:ext>
            </a:extLst>
          </p:cNvPr>
          <p:cNvSpPr txBox="1"/>
          <p:nvPr/>
        </p:nvSpPr>
        <p:spPr>
          <a:xfrm>
            <a:off x="793628" y="230038"/>
            <a:ext cx="9569571" cy="584775"/>
          </a:xfrm>
          <a:prstGeom prst="rect">
            <a:avLst/>
          </a:prstGeom>
          <a:noFill/>
        </p:spPr>
        <p:txBody>
          <a:bodyPr wrap="square" rtlCol="0">
            <a:spAutoFit/>
          </a:bodyPr>
          <a:lstStyle/>
          <a:p>
            <a:r>
              <a:rPr lang="en-US" sz="3200" b="1" dirty="0"/>
              <a:t>Disclaimer</a:t>
            </a:r>
            <a:endParaRPr lang="en-IN" b="1" dirty="0"/>
          </a:p>
        </p:txBody>
      </p:sp>
    </p:spTree>
    <p:extLst>
      <p:ext uri="{BB962C8B-B14F-4D97-AF65-F5344CB8AC3E}">
        <p14:creationId xmlns:p14="http://schemas.microsoft.com/office/powerpoint/2010/main" val="42168830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452EC-3DCA-D0D6-3A1F-A196D26FEB5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940EEC5-3FF9-CC0C-CE5F-91FA79F6CE42}"/>
              </a:ext>
            </a:extLst>
          </p:cNvPr>
          <p:cNvSpPr txBox="1"/>
          <p:nvPr/>
        </p:nvSpPr>
        <p:spPr>
          <a:xfrm>
            <a:off x="776377" y="1000664"/>
            <a:ext cx="10765766" cy="738664"/>
          </a:xfrm>
          <a:prstGeom prst="rect">
            <a:avLst/>
          </a:prstGeom>
          <a:noFill/>
        </p:spPr>
        <p:txBody>
          <a:bodyPr wrap="square" rtlCol="0">
            <a:spAutoFit/>
          </a:bodyPr>
          <a:lstStyle/>
          <a:p>
            <a:r>
              <a:rPr lang="en-US" sz="1400" b="1" dirty="0">
                <a:hlinkClick r:id="rId2"/>
              </a:rPr>
              <a:t>cncelestials@gmail.com</a:t>
            </a:r>
            <a:endParaRPr lang="en-US" sz="1400" b="1" dirty="0"/>
          </a:p>
          <a:p>
            <a:endParaRPr lang="en-US" sz="1400" b="1" dirty="0"/>
          </a:p>
          <a:p>
            <a:r>
              <a:rPr lang="en-US" sz="1400" b="1"/>
              <a:t>91191 38356</a:t>
            </a:r>
            <a:endParaRPr lang="en-IN" sz="1400" dirty="0"/>
          </a:p>
        </p:txBody>
      </p:sp>
      <p:sp>
        <p:nvSpPr>
          <p:cNvPr id="8" name="TextBox 7">
            <a:extLst>
              <a:ext uri="{FF2B5EF4-FFF2-40B4-BE49-F238E27FC236}">
                <a16:creationId xmlns:a16="http://schemas.microsoft.com/office/drawing/2014/main" id="{62FCF57E-A3D9-115E-0985-47D2E80C4D1A}"/>
              </a:ext>
            </a:extLst>
          </p:cNvPr>
          <p:cNvSpPr txBox="1"/>
          <p:nvPr/>
        </p:nvSpPr>
        <p:spPr>
          <a:xfrm>
            <a:off x="793628" y="230038"/>
            <a:ext cx="9569571" cy="584775"/>
          </a:xfrm>
          <a:prstGeom prst="rect">
            <a:avLst/>
          </a:prstGeom>
          <a:noFill/>
        </p:spPr>
        <p:txBody>
          <a:bodyPr wrap="square" rtlCol="0">
            <a:spAutoFit/>
          </a:bodyPr>
          <a:lstStyle/>
          <a:p>
            <a:r>
              <a:rPr lang="en-US" sz="3200" b="1" dirty="0"/>
              <a:t>Contact Us</a:t>
            </a:r>
            <a:endParaRPr lang="en-IN" b="1" dirty="0"/>
          </a:p>
        </p:txBody>
      </p:sp>
    </p:spTree>
    <p:extLst>
      <p:ext uri="{BB962C8B-B14F-4D97-AF65-F5344CB8AC3E}">
        <p14:creationId xmlns:p14="http://schemas.microsoft.com/office/powerpoint/2010/main" val="5659144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C3AB1-2C73-B226-8FE4-A750A0B393E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2D8BB0F-4552-F3DA-3269-920825239A66}"/>
              </a:ext>
            </a:extLst>
          </p:cNvPr>
          <p:cNvSpPr txBox="1"/>
          <p:nvPr/>
        </p:nvSpPr>
        <p:spPr>
          <a:xfrm>
            <a:off x="776377" y="1000664"/>
            <a:ext cx="10765766" cy="2031325"/>
          </a:xfrm>
          <a:prstGeom prst="rect">
            <a:avLst/>
          </a:prstGeom>
          <a:noFill/>
        </p:spPr>
        <p:txBody>
          <a:bodyPr wrap="square" rtlCol="0">
            <a:spAutoFit/>
          </a:bodyPr>
          <a:lstStyle/>
          <a:p>
            <a:r>
              <a:rPr lang="en-US" sz="1400" dirty="0" err="1"/>
              <a:t>Razorpay</a:t>
            </a:r>
            <a:r>
              <a:rPr lang="en-US" sz="1400" dirty="0"/>
              <a:t> Integration for payments ; different services may have different payments</a:t>
            </a:r>
          </a:p>
          <a:p>
            <a:endParaRPr lang="en-US" sz="1400" dirty="0"/>
          </a:p>
          <a:p>
            <a:r>
              <a:rPr lang="en-US" sz="1400" dirty="0"/>
              <a:t>Calendar</a:t>
            </a:r>
          </a:p>
          <a:p>
            <a:endParaRPr lang="en-US" sz="1400" dirty="0"/>
          </a:p>
          <a:p>
            <a:r>
              <a:rPr lang="en-US" sz="1400" dirty="0" err="1"/>
              <a:t>Whatsapp</a:t>
            </a:r>
            <a:endParaRPr lang="en-US" sz="1400" dirty="0"/>
          </a:p>
          <a:p>
            <a:endParaRPr lang="en-US" sz="1400" dirty="0"/>
          </a:p>
          <a:p>
            <a:r>
              <a:rPr lang="en-US" sz="1400" dirty="0"/>
              <a:t>Email Integration </a:t>
            </a:r>
          </a:p>
          <a:p>
            <a:endParaRPr lang="en-US" sz="1400" dirty="0"/>
          </a:p>
          <a:p>
            <a:r>
              <a:rPr lang="en-US" sz="1400" dirty="0"/>
              <a:t>Some database creation you spoke Parv </a:t>
            </a:r>
          </a:p>
        </p:txBody>
      </p:sp>
      <p:sp>
        <p:nvSpPr>
          <p:cNvPr id="8" name="TextBox 7">
            <a:extLst>
              <a:ext uri="{FF2B5EF4-FFF2-40B4-BE49-F238E27FC236}">
                <a16:creationId xmlns:a16="http://schemas.microsoft.com/office/drawing/2014/main" id="{8E6BEC35-1845-5D5F-C59B-18299975F914}"/>
              </a:ext>
            </a:extLst>
          </p:cNvPr>
          <p:cNvSpPr txBox="1"/>
          <p:nvPr/>
        </p:nvSpPr>
        <p:spPr>
          <a:xfrm>
            <a:off x="793628" y="230038"/>
            <a:ext cx="9569571" cy="584775"/>
          </a:xfrm>
          <a:prstGeom prst="rect">
            <a:avLst/>
          </a:prstGeom>
          <a:noFill/>
        </p:spPr>
        <p:txBody>
          <a:bodyPr wrap="square" rtlCol="0">
            <a:spAutoFit/>
          </a:bodyPr>
          <a:lstStyle/>
          <a:p>
            <a:r>
              <a:rPr lang="en-US" sz="3200" b="1" dirty="0"/>
              <a:t>Integrations</a:t>
            </a:r>
            <a:endParaRPr lang="en-IN" b="1" dirty="0"/>
          </a:p>
        </p:txBody>
      </p:sp>
    </p:spTree>
    <p:extLst>
      <p:ext uri="{BB962C8B-B14F-4D97-AF65-F5344CB8AC3E}">
        <p14:creationId xmlns:p14="http://schemas.microsoft.com/office/powerpoint/2010/main" val="37530234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27082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127</TotalTime>
  <Words>3921</Words>
  <Application>Microsoft Office PowerPoint</Application>
  <PresentationFormat>Widescreen</PresentationFormat>
  <Paragraphs>362</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Meenakshi Saxena</dc:creator>
  <cp:lastModifiedBy>Meenakshi Saxena</cp:lastModifiedBy>
  <cp:revision>1</cp:revision>
  <dcterms:created xsi:type="dcterms:W3CDTF">2026-07-04T16:33:29Z</dcterms:created>
  <dcterms:modified xsi:type="dcterms:W3CDTF">2026-07-10T13:50:17Z</dcterms:modified>
</cp:coreProperties>
</file>